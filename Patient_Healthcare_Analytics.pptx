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5680" y="0"/>
            <a:ext cx="475488" cy="960120"/>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95560" y="1371600"/>
            <a:ext cx="146304" cy="640080"/>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948672" y="1618488"/>
            <a:ext cx="640080" cy="146304"/>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05840"/>
            <a:ext cx="7955279" cy="320040"/>
          </a:xfrm>
          <a:prstGeom prst="rect">
            <a:avLst/>
          </a:prstGeom>
          <a:noFill/>
        </p:spPr>
        <p:txBody>
          <a:bodyPr wrap="square" lIns="0" rIns="0" tIns="0" bIns="0" anchor="t">
            <a:spAutoFit/>
          </a:bodyPr>
          <a:lstStyle/>
          <a:p>
            <a:pPr algn="l">
              <a:defRPr sz="1400" b="1">
                <a:solidFill>
                  <a:srgbClr val="48A9A4"/>
                </a:solidFill>
                <a:latin typeface="Aptos"/>
              </a:defRPr>
            </a:pPr>
            <a:r>
              <a:t>AXON  •  HEALTHCARE DATA PROJECT</a:t>
            </a:r>
          </a:p>
        </p:txBody>
      </p:sp>
      <p:sp>
        <p:nvSpPr>
          <p:cNvPr id="8" name="TextBox 7"/>
          <p:cNvSpPr txBox="1"/>
          <p:nvPr/>
        </p:nvSpPr>
        <p:spPr>
          <a:xfrm>
            <a:off x="822960" y="1645920"/>
            <a:ext cx="8046720" cy="1463040"/>
          </a:xfrm>
          <a:prstGeom prst="rect">
            <a:avLst/>
          </a:prstGeom>
          <a:noFill/>
        </p:spPr>
        <p:txBody>
          <a:bodyPr wrap="square" lIns="0" rIns="0" tIns="0" bIns="0" anchor="t">
            <a:spAutoFit/>
          </a:bodyPr>
          <a:lstStyle/>
          <a:p>
            <a:pPr algn="l">
              <a:defRPr sz="3400" b="1">
                <a:solidFill>
                  <a:srgbClr val="FFFFFF"/>
                </a:solidFill>
                <a:latin typeface="Aptos Display"/>
              </a:defRPr>
            </a:pPr>
            <a:r>
              <a:t>PATIENT HEALTHCARE</a:t>
            </a:r>
            <a:br/>
            <a:r>
              <a:t>ANALYTICS</a:t>
            </a:r>
          </a:p>
        </p:txBody>
      </p:sp>
      <p:sp>
        <p:nvSpPr>
          <p:cNvPr id="9" name="TextBox 8"/>
          <p:cNvSpPr txBox="1"/>
          <p:nvPr/>
        </p:nvSpPr>
        <p:spPr>
          <a:xfrm>
            <a:off x="850392" y="3310128"/>
            <a:ext cx="7040880" cy="566928"/>
          </a:xfrm>
          <a:prstGeom prst="rect">
            <a:avLst/>
          </a:prstGeom>
          <a:noFill/>
        </p:spPr>
        <p:txBody>
          <a:bodyPr wrap="square" lIns="0" rIns="0" tIns="0" bIns="0" anchor="t">
            <a:spAutoFit/>
          </a:bodyPr>
          <a:lstStyle/>
          <a:p>
            <a:pPr algn="l">
              <a:defRPr sz="1800" b="0">
                <a:solidFill>
                  <a:srgbClr val="DCEFEF"/>
                </a:solidFill>
                <a:latin typeface="Aptos"/>
              </a:defRPr>
            </a:pPr>
            <a:r>
              <a:t>From raw healthcare records to validated, interactive dashboards</a:t>
            </a:r>
          </a:p>
        </p:txBody>
      </p:sp>
      <p:sp>
        <p:nvSpPr>
          <p:cNvPr id="10" name="TextBox 9"/>
          <p:cNvSpPr txBox="1"/>
          <p:nvPr/>
        </p:nvSpPr>
        <p:spPr>
          <a:xfrm>
            <a:off x="7863840" y="3840480"/>
            <a:ext cx="3017520" cy="310896"/>
          </a:xfrm>
          <a:prstGeom prst="rect">
            <a:avLst/>
          </a:prstGeom>
          <a:noFill/>
        </p:spPr>
        <p:txBody>
          <a:bodyPr wrap="square" lIns="0" rIns="0" tIns="0" bIns="0" anchor="t">
            <a:spAutoFit/>
          </a:bodyPr>
          <a:lstStyle/>
          <a:p>
            <a:pPr algn="r">
              <a:defRPr sz="1300" b="1">
                <a:solidFill>
                  <a:srgbClr val="48A9A4"/>
                </a:solidFill>
                <a:latin typeface="Aptos"/>
              </a:defRPr>
            </a:pPr>
            <a:r>
              <a:t>PRESENTED BY — GROUP 4</a:t>
            </a:r>
          </a:p>
        </p:txBody>
      </p:sp>
      <p:sp>
        <p:nvSpPr>
          <p:cNvPr id="11" name="TextBox 10"/>
          <p:cNvSpPr txBox="1"/>
          <p:nvPr/>
        </p:nvSpPr>
        <p:spPr>
          <a:xfrm>
            <a:off x="7589520" y="4224528"/>
            <a:ext cx="3291840" cy="1143000"/>
          </a:xfrm>
          <a:prstGeom prst="rect">
            <a:avLst/>
          </a:prstGeom>
          <a:noFill/>
        </p:spPr>
        <p:txBody>
          <a:bodyPr wrap="square" lIns="0" rIns="0" tIns="0" bIns="0" anchor="t">
            <a:spAutoFit/>
          </a:bodyPr>
          <a:lstStyle/>
          <a:p>
            <a:pPr algn="r">
              <a:defRPr sz="1500" b="0">
                <a:solidFill>
                  <a:srgbClr val="FFFFFF"/>
                </a:solidFill>
                <a:latin typeface="Aptos"/>
              </a:defRPr>
            </a:pPr>
            <a:r>
              <a:t>P.L. Deepak</a:t>
            </a:r>
            <a:br/>
            <a:r>
              <a:t>Ananya TS</a:t>
            </a:r>
            <a:br/>
            <a:r>
              <a:t>DSV Sahithi</a:t>
            </a:r>
            <a:br/>
            <a:r>
              <a:t>Alwyn Samuel</a:t>
            </a:r>
          </a:p>
        </p:txBody>
      </p:sp>
      <p:sp>
        <p:nvSpPr>
          <p:cNvPr id="12" name="TextBox 11"/>
          <p:cNvSpPr txBox="1"/>
          <p:nvPr/>
        </p:nvSpPr>
        <p:spPr>
          <a:xfrm>
            <a:off x="841248" y="6053328"/>
            <a:ext cx="9144000" cy="292608"/>
          </a:xfrm>
          <a:prstGeom prst="rect">
            <a:avLst/>
          </a:prstGeom>
          <a:noFill/>
        </p:spPr>
        <p:txBody>
          <a:bodyPr wrap="square" lIns="0" rIns="0" tIns="0" bIns="0" anchor="t">
            <a:spAutoFit/>
          </a:bodyPr>
          <a:lstStyle/>
          <a:p>
            <a:pPr algn="l">
              <a:defRPr sz="1200" b="1">
                <a:solidFill>
                  <a:srgbClr val="FFFFFF"/>
                </a:solidFill>
                <a:latin typeface="Aptos"/>
              </a:defRPr>
            </a:pPr>
            <a:r>
              <a:t>EXCEL   →   POWER BI   →   TABLEAU   →   MYSQL / SQL QA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Presentation roadmap</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A clear walkthrough of the project from preparation to findings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2</a:t>
            </a:r>
          </a:p>
        </p:txBody>
      </p:sp>
      <p:sp>
        <p:nvSpPr>
          <p:cNvPr id="9" name="Rounded Rectangle 8"/>
          <p:cNvSpPr/>
          <p:nvPr/>
        </p:nvSpPr>
        <p:spPr>
          <a:xfrm>
            <a:off x="594360" y="1645920"/>
            <a:ext cx="10972800" cy="4526280"/>
          </a:xfrm>
          <a:prstGeom prst="roundRect">
            <a:avLst/>
          </a:prstGeom>
          <a:solidFill>
            <a:srgbClr val="F7FAFA"/>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530352" cy="347472"/>
          </a:xfrm>
          <a:prstGeom prst="rect">
            <a:avLst/>
          </a:prstGeom>
          <a:noFill/>
        </p:spPr>
        <p:txBody>
          <a:bodyPr wrap="square" lIns="0" rIns="0" tIns="0" bIns="0" anchor="t">
            <a:spAutoFit/>
          </a:bodyPr>
          <a:lstStyle/>
          <a:p>
            <a:pPr algn="ctr">
              <a:defRPr sz="1700" b="1">
                <a:solidFill>
                  <a:srgbClr val="115B5F"/>
                </a:solidFill>
                <a:latin typeface="Aptos"/>
              </a:defRPr>
            </a:pPr>
            <a:r>
              <a:t>01</a:t>
            </a:r>
          </a:p>
        </p:txBody>
      </p:sp>
      <p:sp>
        <p:nvSpPr>
          <p:cNvPr id="11" name="TextBox 10"/>
          <p:cNvSpPr txBox="1"/>
          <p:nvPr/>
        </p:nvSpPr>
        <p:spPr>
          <a:xfrm>
            <a:off x="1600200" y="1847088"/>
            <a:ext cx="8961120" cy="347472"/>
          </a:xfrm>
          <a:prstGeom prst="rect">
            <a:avLst/>
          </a:prstGeom>
          <a:noFill/>
        </p:spPr>
        <p:txBody>
          <a:bodyPr wrap="square" lIns="0" rIns="0" tIns="0" bIns="0" anchor="t">
            <a:spAutoFit/>
          </a:bodyPr>
          <a:lstStyle/>
          <a:p>
            <a:pPr algn="l">
              <a:defRPr sz="1600" b="1">
                <a:solidFill>
                  <a:srgbClr val="1C2B33"/>
                </a:solidFill>
                <a:latin typeface="Aptos"/>
              </a:defRPr>
            </a:pPr>
            <a:r>
              <a:t>Project overview and data structure</a:t>
            </a:r>
          </a:p>
        </p:txBody>
      </p:sp>
      <p:sp>
        <p:nvSpPr>
          <p:cNvPr id="12" name="Rectangle 11"/>
          <p:cNvSpPr/>
          <p:nvPr/>
        </p:nvSpPr>
        <p:spPr>
          <a:xfrm>
            <a:off x="1572768" y="2258568"/>
            <a:ext cx="9326880" cy="10972"/>
          </a:xfrm>
          <a:prstGeom prst="rect">
            <a:avLst/>
          </a:prstGeom>
          <a:solidFill>
            <a:srgbClr val="CFE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423160"/>
            <a:ext cx="530352" cy="347472"/>
          </a:xfrm>
          <a:prstGeom prst="rect">
            <a:avLst/>
          </a:prstGeom>
          <a:noFill/>
        </p:spPr>
        <p:txBody>
          <a:bodyPr wrap="square" lIns="0" rIns="0" tIns="0" bIns="0" anchor="t">
            <a:spAutoFit/>
          </a:bodyPr>
          <a:lstStyle/>
          <a:p>
            <a:pPr algn="ctr">
              <a:defRPr sz="1700" b="1">
                <a:solidFill>
                  <a:srgbClr val="115B5F"/>
                </a:solidFill>
                <a:latin typeface="Aptos"/>
              </a:defRPr>
            </a:pPr>
            <a:r>
              <a:t>02</a:t>
            </a:r>
          </a:p>
        </p:txBody>
      </p:sp>
      <p:sp>
        <p:nvSpPr>
          <p:cNvPr id="14" name="TextBox 13"/>
          <p:cNvSpPr txBox="1"/>
          <p:nvPr/>
        </p:nvSpPr>
        <p:spPr>
          <a:xfrm>
            <a:off x="1600200" y="2423160"/>
            <a:ext cx="8961120" cy="347472"/>
          </a:xfrm>
          <a:prstGeom prst="rect">
            <a:avLst/>
          </a:prstGeom>
          <a:noFill/>
        </p:spPr>
        <p:txBody>
          <a:bodyPr wrap="square" lIns="0" rIns="0" tIns="0" bIns="0" anchor="t">
            <a:spAutoFit/>
          </a:bodyPr>
          <a:lstStyle/>
          <a:p>
            <a:pPr algn="l">
              <a:defRPr sz="1600" b="0">
                <a:solidFill>
                  <a:srgbClr val="1C2B33"/>
                </a:solidFill>
                <a:latin typeface="Aptos"/>
              </a:defRPr>
            </a:pPr>
            <a:r>
              <a:t>Ten KPIs and what they tell us</a:t>
            </a:r>
          </a:p>
        </p:txBody>
      </p:sp>
      <p:sp>
        <p:nvSpPr>
          <p:cNvPr id="15" name="Rectangle 14"/>
          <p:cNvSpPr/>
          <p:nvPr/>
        </p:nvSpPr>
        <p:spPr>
          <a:xfrm>
            <a:off x="1572768" y="2834640"/>
            <a:ext cx="9326880" cy="10972"/>
          </a:xfrm>
          <a:prstGeom prst="rect">
            <a:avLst/>
          </a:prstGeom>
          <a:solidFill>
            <a:srgbClr val="CFE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999232"/>
            <a:ext cx="530352" cy="347472"/>
          </a:xfrm>
          <a:prstGeom prst="rect">
            <a:avLst/>
          </a:prstGeom>
          <a:noFill/>
        </p:spPr>
        <p:txBody>
          <a:bodyPr wrap="square" lIns="0" rIns="0" tIns="0" bIns="0" anchor="t">
            <a:spAutoFit/>
          </a:bodyPr>
          <a:lstStyle/>
          <a:p>
            <a:pPr algn="ctr">
              <a:defRPr sz="1700" b="1">
                <a:solidFill>
                  <a:srgbClr val="115B5F"/>
                </a:solidFill>
                <a:latin typeface="Aptos"/>
              </a:defRPr>
            </a:pPr>
            <a:r>
              <a:t>03</a:t>
            </a:r>
          </a:p>
        </p:txBody>
      </p:sp>
      <p:sp>
        <p:nvSpPr>
          <p:cNvPr id="17" name="TextBox 16"/>
          <p:cNvSpPr txBox="1"/>
          <p:nvPr/>
        </p:nvSpPr>
        <p:spPr>
          <a:xfrm>
            <a:off x="1600200" y="2999232"/>
            <a:ext cx="8961120" cy="347472"/>
          </a:xfrm>
          <a:prstGeom prst="rect">
            <a:avLst/>
          </a:prstGeom>
          <a:noFill/>
        </p:spPr>
        <p:txBody>
          <a:bodyPr wrap="square" lIns="0" rIns="0" tIns="0" bIns="0" anchor="t">
            <a:spAutoFit/>
          </a:bodyPr>
          <a:lstStyle/>
          <a:p>
            <a:pPr algn="l">
              <a:defRPr sz="1600" b="0">
                <a:solidFill>
                  <a:srgbClr val="1C2B33"/>
                </a:solidFill>
                <a:latin typeface="Aptos"/>
              </a:defRPr>
            </a:pPr>
            <a:r>
              <a:t>Excel: cleaning, PivotTables and dashboard</a:t>
            </a:r>
          </a:p>
        </p:txBody>
      </p:sp>
      <p:sp>
        <p:nvSpPr>
          <p:cNvPr id="18" name="Rectangle 17"/>
          <p:cNvSpPr/>
          <p:nvPr/>
        </p:nvSpPr>
        <p:spPr>
          <a:xfrm>
            <a:off x="1572768" y="3410712"/>
            <a:ext cx="9326880" cy="10972"/>
          </a:xfrm>
          <a:prstGeom prst="rect">
            <a:avLst/>
          </a:prstGeom>
          <a:solidFill>
            <a:srgbClr val="CFE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575304"/>
            <a:ext cx="530352" cy="347472"/>
          </a:xfrm>
          <a:prstGeom prst="rect">
            <a:avLst/>
          </a:prstGeom>
          <a:noFill/>
        </p:spPr>
        <p:txBody>
          <a:bodyPr wrap="square" lIns="0" rIns="0" tIns="0" bIns="0" anchor="t">
            <a:spAutoFit/>
          </a:bodyPr>
          <a:lstStyle/>
          <a:p>
            <a:pPr algn="ctr">
              <a:defRPr sz="1700" b="1">
                <a:solidFill>
                  <a:srgbClr val="115B5F"/>
                </a:solidFill>
                <a:latin typeface="Aptos"/>
              </a:defRPr>
            </a:pPr>
            <a:r>
              <a:t>04</a:t>
            </a:r>
          </a:p>
        </p:txBody>
      </p:sp>
      <p:sp>
        <p:nvSpPr>
          <p:cNvPr id="20" name="TextBox 19"/>
          <p:cNvSpPr txBox="1"/>
          <p:nvPr/>
        </p:nvSpPr>
        <p:spPr>
          <a:xfrm>
            <a:off x="1600200" y="3575304"/>
            <a:ext cx="8961120" cy="347472"/>
          </a:xfrm>
          <a:prstGeom prst="rect">
            <a:avLst/>
          </a:prstGeom>
          <a:noFill/>
        </p:spPr>
        <p:txBody>
          <a:bodyPr wrap="square" lIns="0" rIns="0" tIns="0" bIns="0" anchor="t">
            <a:spAutoFit/>
          </a:bodyPr>
          <a:lstStyle/>
          <a:p>
            <a:pPr algn="l">
              <a:defRPr sz="1600" b="0">
                <a:solidFill>
                  <a:srgbClr val="1C2B33"/>
                </a:solidFill>
                <a:latin typeface="Aptos"/>
              </a:defRPr>
            </a:pPr>
            <a:r>
              <a:t>Power BI: Power Query, modelling and report</a:t>
            </a:r>
          </a:p>
        </p:txBody>
      </p:sp>
      <p:sp>
        <p:nvSpPr>
          <p:cNvPr id="21" name="Rectangle 20"/>
          <p:cNvSpPr/>
          <p:nvPr/>
        </p:nvSpPr>
        <p:spPr>
          <a:xfrm>
            <a:off x="1572768" y="3986784"/>
            <a:ext cx="9326880" cy="10972"/>
          </a:xfrm>
          <a:prstGeom prst="rect">
            <a:avLst/>
          </a:prstGeom>
          <a:solidFill>
            <a:srgbClr val="CFE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4151376"/>
            <a:ext cx="530352" cy="347472"/>
          </a:xfrm>
          <a:prstGeom prst="rect">
            <a:avLst/>
          </a:prstGeom>
          <a:noFill/>
        </p:spPr>
        <p:txBody>
          <a:bodyPr wrap="square" lIns="0" rIns="0" tIns="0" bIns="0" anchor="t">
            <a:spAutoFit/>
          </a:bodyPr>
          <a:lstStyle/>
          <a:p>
            <a:pPr algn="ctr">
              <a:defRPr sz="1700" b="1">
                <a:solidFill>
                  <a:srgbClr val="115B5F"/>
                </a:solidFill>
                <a:latin typeface="Aptos"/>
              </a:defRPr>
            </a:pPr>
            <a:r>
              <a:t>05</a:t>
            </a:r>
          </a:p>
        </p:txBody>
      </p:sp>
      <p:sp>
        <p:nvSpPr>
          <p:cNvPr id="23" name="TextBox 22"/>
          <p:cNvSpPr txBox="1"/>
          <p:nvPr/>
        </p:nvSpPr>
        <p:spPr>
          <a:xfrm>
            <a:off x="1600200" y="4151376"/>
            <a:ext cx="8961120" cy="347472"/>
          </a:xfrm>
          <a:prstGeom prst="rect">
            <a:avLst/>
          </a:prstGeom>
          <a:noFill/>
        </p:spPr>
        <p:txBody>
          <a:bodyPr wrap="square" lIns="0" rIns="0" tIns="0" bIns="0" anchor="t">
            <a:spAutoFit/>
          </a:bodyPr>
          <a:lstStyle/>
          <a:p>
            <a:pPr algn="l">
              <a:defRPr sz="1600" b="0">
                <a:solidFill>
                  <a:srgbClr val="1C2B33"/>
                </a:solidFill>
                <a:latin typeface="Aptos"/>
              </a:defRPr>
            </a:pPr>
            <a:r>
              <a:t>Tableau: worksheets, dashboard and filters</a:t>
            </a:r>
          </a:p>
        </p:txBody>
      </p:sp>
      <p:sp>
        <p:nvSpPr>
          <p:cNvPr id="24" name="Rectangle 23"/>
          <p:cNvSpPr/>
          <p:nvPr/>
        </p:nvSpPr>
        <p:spPr>
          <a:xfrm>
            <a:off x="1572768" y="4562856"/>
            <a:ext cx="9326880" cy="10972"/>
          </a:xfrm>
          <a:prstGeom prst="rect">
            <a:avLst/>
          </a:prstGeom>
          <a:solidFill>
            <a:srgbClr val="CFE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727448"/>
            <a:ext cx="530352" cy="347472"/>
          </a:xfrm>
          <a:prstGeom prst="rect">
            <a:avLst/>
          </a:prstGeom>
          <a:noFill/>
        </p:spPr>
        <p:txBody>
          <a:bodyPr wrap="square" lIns="0" rIns="0" tIns="0" bIns="0" anchor="t">
            <a:spAutoFit/>
          </a:bodyPr>
          <a:lstStyle/>
          <a:p>
            <a:pPr algn="ctr">
              <a:defRPr sz="1700" b="1">
                <a:solidFill>
                  <a:srgbClr val="115B5F"/>
                </a:solidFill>
                <a:latin typeface="Aptos"/>
              </a:defRPr>
            </a:pPr>
            <a:r>
              <a:t>06</a:t>
            </a:r>
          </a:p>
        </p:txBody>
      </p:sp>
      <p:sp>
        <p:nvSpPr>
          <p:cNvPr id="26" name="TextBox 25"/>
          <p:cNvSpPr txBox="1"/>
          <p:nvPr/>
        </p:nvSpPr>
        <p:spPr>
          <a:xfrm>
            <a:off x="1600200" y="4727448"/>
            <a:ext cx="8961120" cy="347472"/>
          </a:xfrm>
          <a:prstGeom prst="rect">
            <a:avLst/>
          </a:prstGeom>
          <a:noFill/>
        </p:spPr>
        <p:txBody>
          <a:bodyPr wrap="square" lIns="0" rIns="0" tIns="0" bIns="0" anchor="t">
            <a:spAutoFit/>
          </a:bodyPr>
          <a:lstStyle/>
          <a:p>
            <a:pPr algn="l">
              <a:defRPr sz="1600" b="0">
                <a:solidFill>
                  <a:srgbClr val="1C2B33"/>
                </a:solidFill>
                <a:latin typeface="Aptos"/>
              </a:defRPr>
            </a:pPr>
            <a:r>
              <a:t>MySQL: quality assurance and KPI validation</a:t>
            </a:r>
          </a:p>
        </p:txBody>
      </p:sp>
      <p:sp>
        <p:nvSpPr>
          <p:cNvPr id="27" name="Rectangle 26"/>
          <p:cNvSpPr/>
          <p:nvPr/>
        </p:nvSpPr>
        <p:spPr>
          <a:xfrm>
            <a:off x="1572768" y="5138928"/>
            <a:ext cx="9326880" cy="10972"/>
          </a:xfrm>
          <a:prstGeom prst="rect">
            <a:avLst/>
          </a:prstGeom>
          <a:solidFill>
            <a:srgbClr val="CFE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303520"/>
            <a:ext cx="530352" cy="347472"/>
          </a:xfrm>
          <a:prstGeom prst="rect">
            <a:avLst/>
          </a:prstGeom>
          <a:noFill/>
        </p:spPr>
        <p:txBody>
          <a:bodyPr wrap="square" lIns="0" rIns="0" tIns="0" bIns="0" anchor="t">
            <a:spAutoFit/>
          </a:bodyPr>
          <a:lstStyle/>
          <a:p>
            <a:pPr algn="ctr">
              <a:defRPr sz="1700" b="1">
                <a:solidFill>
                  <a:srgbClr val="115B5F"/>
                </a:solidFill>
                <a:latin typeface="Aptos"/>
              </a:defRPr>
            </a:pPr>
            <a:r>
              <a:t>07</a:t>
            </a:r>
          </a:p>
        </p:txBody>
      </p:sp>
      <p:sp>
        <p:nvSpPr>
          <p:cNvPr id="29" name="TextBox 28"/>
          <p:cNvSpPr txBox="1"/>
          <p:nvPr/>
        </p:nvSpPr>
        <p:spPr>
          <a:xfrm>
            <a:off x="1600200" y="5303520"/>
            <a:ext cx="8961120" cy="347472"/>
          </a:xfrm>
          <a:prstGeom prst="rect">
            <a:avLst/>
          </a:prstGeom>
          <a:noFill/>
        </p:spPr>
        <p:txBody>
          <a:bodyPr wrap="square" lIns="0" rIns="0" tIns="0" bIns="0" anchor="t">
            <a:spAutoFit/>
          </a:bodyPr>
          <a:lstStyle/>
          <a:p>
            <a:pPr algn="l">
              <a:defRPr sz="1600" b="0">
                <a:solidFill>
                  <a:srgbClr val="1C2B33"/>
                </a:solidFill>
                <a:latin typeface="Aptos"/>
              </a:defRPr>
            </a:pPr>
            <a:r>
              <a:t>Findings, recommended actions and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Project overview</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Objective • data • workflow</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3</a:t>
            </a:r>
          </a:p>
        </p:txBody>
      </p:sp>
      <p:sp>
        <p:nvSpPr>
          <p:cNvPr id="9" name="Rounded Rectangle 8"/>
          <p:cNvSpPr/>
          <p:nvPr/>
        </p:nvSpPr>
        <p:spPr>
          <a:xfrm>
            <a:off x="594360" y="1627632"/>
            <a:ext cx="6903720" cy="4526280"/>
          </a:xfrm>
          <a:prstGeom prst="roundRect">
            <a:avLst/>
          </a:prstGeom>
          <a:solidFill>
            <a:srgbClr val="F7FAFA"/>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74519"/>
            <a:ext cx="6309360" cy="320040"/>
          </a:xfrm>
          <a:prstGeom prst="rect">
            <a:avLst/>
          </a:prstGeom>
          <a:noFill/>
        </p:spPr>
        <p:txBody>
          <a:bodyPr wrap="square" lIns="0" rIns="0" tIns="0" bIns="0" anchor="t">
            <a:spAutoFit/>
          </a:bodyPr>
          <a:lstStyle/>
          <a:p>
            <a:pPr algn="l">
              <a:defRPr sz="1500" b="1">
                <a:solidFill>
                  <a:srgbClr val="115B5F"/>
                </a:solidFill>
                <a:latin typeface="Aptos"/>
              </a:defRPr>
            </a:pPr>
            <a:r>
              <a:t>PROJECT OBJECTIVE</a:t>
            </a:r>
          </a:p>
        </p:txBody>
      </p:sp>
      <p:sp>
        <p:nvSpPr>
          <p:cNvPr id="11" name="TextBox 10"/>
          <p:cNvSpPr txBox="1"/>
          <p:nvPr/>
        </p:nvSpPr>
        <p:spPr>
          <a:xfrm>
            <a:off x="868680" y="2267712"/>
            <a:ext cx="6217920" cy="1024128"/>
          </a:xfrm>
          <a:prstGeom prst="rect">
            <a:avLst/>
          </a:prstGeom>
          <a:noFill/>
        </p:spPr>
        <p:txBody>
          <a:bodyPr wrap="square" lIns="0" rIns="0" tIns="0" bIns="0" anchor="t">
            <a:spAutoFit/>
          </a:bodyPr>
          <a:lstStyle/>
          <a:p>
            <a:pPr algn="l">
              <a:defRPr sz="1800" b="0">
                <a:solidFill>
                  <a:srgbClr val="1C2B33"/>
                </a:solidFill>
                <a:latin typeface="Aptos"/>
              </a:defRPr>
            </a:pPr>
            <a:r>
              <a:t>Turn patient, doctor, visit, treatment and lab-result records into understandable views that support operational review and data-driven questions.</a:t>
            </a:r>
          </a:p>
        </p:txBody>
      </p:sp>
      <p:sp>
        <p:nvSpPr>
          <p:cNvPr id="12" name="TextBox 11"/>
          <p:cNvSpPr txBox="1"/>
          <p:nvPr/>
        </p:nvSpPr>
        <p:spPr>
          <a:xfrm>
            <a:off x="868680" y="3566160"/>
            <a:ext cx="6309360" cy="320040"/>
          </a:xfrm>
          <a:prstGeom prst="rect">
            <a:avLst/>
          </a:prstGeom>
          <a:noFill/>
        </p:spPr>
        <p:txBody>
          <a:bodyPr wrap="square" lIns="0" rIns="0" tIns="0" bIns="0" anchor="t">
            <a:spAutoFit/>
          </a:bodyPr>
          <a:lstStyle/>
          <a:p>
            <a:pPr algn="l">
              <a:defRPr sz="1500" b="1">
                <a:solidFill>
                  <a:srgbClr val="115B5F"/>
                </a:solidFill>
                <a:latin typeface="Aptos"/>
              </a:defRPr>
            </a:pPr>
            <a:r>
              <a:t>WHAT WE DID</a:t>
            </a:r>
          </a:p>
        </p:txBody>
      </p:sp>
      <p:sp>
        <p:nvSpPr>
          <p:cNvPr id="13" name="TextBox 12"/>
          <p:cNvSpPr txBox="1"/>
          <p:nvPr/>
        </p:nvSpPr>
        <p:spPr>
          <a:xfrm>
            <a:off x="868680" y="3931920"/>
            <a:ext cx="6217920" cy="1920240"/>
          </a:xfrm>
          <a:prstGeom prst="rect">
            <a:avLst/>
          </a:prstGeom>
          <a:noFill/>
        </p:spPr>
        <p:txBody>
          <a:bodyPr wrap="square" lIns="109728" rIns="109728" tIns="91440" bIns="73152">
            <a:spAutoFit/>
          </a:bodyPr>
          <a:lstStyle/>
          <a:p>
            <a:pPr>
              <a:spcAft>
                <a:spcPts val="1000"/>
              </a:spcAft>
              <a:defRPr sz="1400">
                <a:solidFill>
                  <a:srgbClr val="1C2B33"/>
                </a:solidFill>
                <a:latin typeface="Aptos"/>
              </a:defRPr>
            </a:pPr>
            <a:r>
              <a:t>Prepared and reviewed data before visualisation.</a:t>
            </a:r>
          </a:p>
          <a:p>
            <a:pPr>
              <a:spcAft>
                <a:spcPts val="1000"/>
              </a:spcAft>
              <a:defRPr sz="1400">
                <a:solidFill>
                  <a:srgbClr val="1C2B33"/>
                </a:solidFill>
                <a:latin typeface="Aptos"/>
              </a:defRPr>
            </a:pPr>
            <a:r>
              <a:t>Built dashboards in Excel, Power BI and Tableau.</a:t>
            </a:r>
          </a:p>
          <a:p>
            <a:pPr>
              <a:spcAft>
                <a:spcPts val="1000"/>
              </a:spcAft>
              <a:defRPr sz="1400">
                <a:solidFill>
                  <a:srgbClr val="1C2B33"/>
                </a:solidFill>
                <a:latin typeface="Aptos"/>
              </a:defRPr>
            </a:pPr>
            <a:r>
              <a:t>Used MySQL queries to check records and validate selected measures.</a:t>
            </a:r>
          </a:p>
        </p:txBody>
      </p:sp>
      <p:sp>
        <p:nvSpPr>
          <p:cNvPr id="14" name="Rounded Rectangle 13"/>
          <p:cNvSpPr/>
          <p:nvPr/>
        </p:nvSpPr>
        <p:spPr>
          <a:xfrm>
            <a:off x="7726679" y="1627632"/>
            <a:ext cx="3840480" cy="4526280"/>
          </a:xfrm>
          <a:prstGeom prst="roundRect">
            <a:avLst/>
          </a:prstGeom>
          <a:solidFill>
            <a:srgbClr val="E8F6F5"/>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8431" y="1874519"/>
            <a:ext cx="3246120" cy="320040"/>
          </a:xfrm>
          <a:prstGeom prst="rect">
            <a:avLst/>
          </a:prstGeom>
          <a:noFill/>
        </p:spPr>
        <p:txBody>
          <a:bodyPr wrap="square" lIns="0" rIns="0" tIns="0" bIns="0" anchor="t">
            <a:spAutoFit/>
          </a:bodyPr>
          <a:lstStyle/>
          <a:p>
            <a:pPr algn="l">
              <a:defRPr sz="1500" b="1">
                <a:solidFill>
                  <a:srgbClr val="115B5F"/>
                </a:solidFill>
                <a:latin typeface="Aptos"/>
              </a:defRPr>
            </a:pPr>
            <a:r>
              <a:t>DATASET AT A GLANCE</a:t>
            </a:r>
          </a:p>
        </p:txBody>
      </p:sp>
      <p:sp>
        <p:nvSpPr>
          <p:cNvPr id="16" name="TextBox 15"/>
          <p:cNvSpPr txBox="1"/>
          <p:nvPr/>
        </p:nvSpPr>
        <p:spPr>
          <a:xfrm>
            <a:off x="8028431" y="2377440"/>
            <a:ext cx="1920240" cy="292608"/>
          </a:xfrm>
          <a:prstGeom prst="rect">
            <a:avLst/>
          </a:prstGeom>
          <a:noFill/>
        </p:spPr>
        <p:txBody>
          <a:bodyPr wrap="square" lIns="0" rIns="0" tIns="0" bIns="0" anchor="t">
            <a:spAutoFit/>
          </a:bodyPr>
          <a:lstStyle/>
          <a:p>
            <a:pPr algn="l">
              <a:defRPr sz="1400" b="0">
                <a:solidFill>
                  <a:srgbClr val="566970"/>
                </a:solidFill>
                <a:latin typeface="Aptos"/>
              </a:defRPr>
            </a:pPr>
            <a:r>
              <a:t>Patients</a:t>
            </a:r>
          </a:p>
        </p:txBody>
      </p:sp>
      <p:sp>
        <p:nvSpPr>
          <p:cNvPr id="17" name="TextBox 16"/>
          <p:cNvSpPr txBox="1"/>
          <p:nvPr/>
        </p:nvSpPr>
        <p:spPr>
          <a:xfrm>
            <a:off x="9893808" y="2377440"/>
            <a:ext cx="1234440" cy="292608"/>
          </a:xfrm>
          <a:prstGeom prst="rect">
            <a:avLst/>
          </a:prstGeom>
          <a:noFill/>
        </p:spPr>
        <p:txBody>
          <a:bodyPr wrap="square" lIns="0" rIns="0" tIns="0" bIns="0" anchor="t">
            <a:spAutoFit/>
          </a:bodyPr>
          <a:lstStyle/>
          <a:p>
            <a:pPr algn="r">
              <a:defRPr sz="1700" b="1">
                <a:solidFill>
                  <a:srgbClr val="0B3040"/>
                </a:solidFill>
                <a:latin typeface="Aptos"/>
              </a:defRPr>
            </a:pPr>
            <a:r>
              <a:t>10,000</a:t>
            </a:r>
          </a:p>
        </p:txBody>
      </p:sp>
      <p:sp>
        <p:nvSpPr>
          <p:cNvPr id="18" name="TextBox 17"/>
          <p:cNvSpPr txBox="1"/>
          <p:nvPr/>
        </p:nvSpPr>
        <p:spPr>
          <a:xfrm>
            <a:off x="8028431" y="2999232"/>
            <a:ext cx="1920240" cy="292608"/>
          </a:xfrm>
          <a:prstGeom prst="rect">
            <a:avLst/>
          </a:prstGeom>
          <a:noFill/>
        </p:spPr>
        <p:txBody>
          <a:bodyPr wrap="square" lIns="0" rIns="0" tIns="0" bIns="0" anchor="t">
            <a:spAutoFit/>
          </a:bodyPr>
          <a:lstStyle/>
          <a:p>
            <a:pPr algn="l">
              <a:defRPr sz="1400" b="0">
                <a:solidFill>
                  <a:srgbClr val="566970"/>
                </a:solidFill>
                <a:latin typeface="Aptos"/>
              </a:defRPr>
            </a:pPr>
            <a:r>
              <a:t>Doctors</a:t>
            </a:r>
          </a:p>
        </p:txBody>
      </p:sp>
      <p:sp>
        <p:nvSpPr>
          <p:cNvPr id="19" name="TextBox 18"/>
          <p:cNvSpPr txBox="1"/>
          <p:nvPr/>
        </p:nvSpPr>
        <p:spPr>
          <a:xfrm>
            <a:off x="9893808" y="2999232"/>
            <a:ext cx="1234440" cy="292608"/>
          </a:xfrm>
          <a:prstGeom prst="rect">
            <a:avLst/>
          </a:prstGeom>
          <a:noFill/>
        </p:spPr>
        <p:txBody>
          <a:bodyPr wrap="square" lIns="0" rIns="0" tIns="0" bIns="0" anchor="t">
            <a:spAutoFit/>
          </a:bodyPr>
          <a:lstStyle/>
          <a:p>
            <a:pPr algn="r">
              <a:defRPr sz="1700" b="1">
                <a:solidFill>
                  <a:srgbClr val="0B3040"/>
                </a:solidFill>
                <a:latin typeface="Aptos"/>
              </a:defRPr>
            </a:pPr>
            <a:r>
              <a:t>1,000</a:t>
            </a:r>
          </a:p>
        </p:txBody>
      </p:sp>
      <p:sp>
        <p:nvSpPr>
          <p:cNvPr id="20" name="TextBox 19"/>
          <p:cNvSpPr txBox="1"/>
          <p:nvPr/>
        </p:nvSpPr>
        <p:spPr>
          <a:xfrm>
            <a:off x="8028431" y="3621024"/>
            <a:ext cx="1920240" cy="292608"/>
          </a:xfrm>
          <a:prstGeom prst="rect">
            <a:avLst/>
          </a:prstGeom>
          <a:noFill/>
        </p:spPr>
        <p:txBody>
          <a:bodyPr wrap="square" lIns="0" rIns="0" tIns="0" bIns="0" anchor="t">
            <a:spAutoFit/>
          </a:bodyPr>
          <a:lstStyle/>
          <a:p>
            <a:pPr algn="l">
              <a:defRPr sz="1400" b="0">
                <a:solidFill>
                  <a:srgbClr val="566970"/>
                </a:solidFill>
                <a:latin typeface="Aptos"/>
              </a:defRPr>
            </a:pPr>
            <a:r>
              <a:t>Visits</a:t>
            </a:r>
          </a:p>
        </p:txBody>
      </p:sp>
      <p:sp>
        <p:nvSpPr>
          <p:cNvPr id="21" name="TextBox 20"/>
          <p:cNvSpPr txBox="1"/>
          <p:nvPr/>
        </p:nvSpPr>
        <p:spPr>
          <a:xfrm>
            <a:off x="9893808" y="3621024"/>
            <a:ext cx="1234440" cy="292608"/>
          </a:xfrm>
          <a:prstGeom prst="rect">
            <a:avLst/>
          </a:prstGeom>
          <a:noFill/>
        </p:spPr>
        <p:txBody>
          <a:bodyPr wrap="square" lIns="0" rIns="0" tIns="0" bIns="0" anchor="t">
            <a:spAutoFit/>
          </a:bodyPr>
          <a:lstStyle/>
          <a:p>
            <a:pPr algn="r">
              <a:defRPr sz="1700" b="1">
                <a:solidFill>
                  <a:srgbClr val="0B3040"/>
                </a:solidFill>
                <a:latin typeface="Aptos"/>
              </a:defRPr>
            </a:pPr>
            <a:r>
              <a:t>10,000</a:t>
            </a:r>
          </a:p>
        </p:txBody>
      </p:sp>
      <p:sp>
        <p:nvSpPr>
          <p:cNvPr id="22" name="TextBox 21"/>
          <p:cNvSpPr txBox="1"/>
          <p:nvPr/>
        </p:nvSpPr>
        <p:spPr>
          <a:xfrm>
            <a:off x="8028431" y="4242816"/>
            <a:ext cx="1920240" cy="292608"/>
          </a:xfrm>
          <a:prstGeom prst="rect">
            <a:avLst/>
          </a:prstGeom>
          <a:noFill/>
        </p:spPr>
        <p:txBody>
          <a:bodyPr wrap="square" lIns="0" rIns="0" tIns="0" bIns="0" anchor="t">
            <a:spAutoFit/>
          </a:bodyPr>
          <a:lstStyle/>
          <a:p>
            <a:pPr algn="l">
              <a:defRPr sz="1400" b="0">
                <a:solidFill>
                  <a:srgbClr val="566970"/>
                </a:solidFill>
                <a:latin typeface="Aptos"/>
              </a:defRPr>
            </a:pPr>
            <a:r>
              <a:t>Treatments</a:t>
            </a:r>
          </a:p>
        </p:txBody>
      </p:sp>
      <p:sp>
        <p:nvSpPr>
          <p:cNvPr id="23" name="TextBox 22"/>
          <p:cNvSpPr txBox="1"/>
          <p:nvPr/>
        </p:nvSpPr>
        <p:spPr>
          <a:xfrm>
            <a:off x="9893808" y="4242816"/>
            <a:ext cx="1234440" cy="292608"/>
          </a:xfrm>
          <a:prstGeom prst="rect">
            <a:avLst/>
          </a:prstGeom>
          <a:noFill/>
        </p:spPr>
        <p:txBody>
          <a:bodyPr wrap="square" lIns="0" rIns="0" tIns="0" bIns="0" anchor="t">
            <a:spAutoFit/>
          </a:bodyPr>
          <a:lstStyle/>
          <a:p>
            <a:pPr algn="r">
              <a:defRPr sz="1700" b="1">
                <a:solidFill>
                  <a:srgbClr val="0B3040"/>
                </a:solidFill>
                <a:latin typeface="Aptos"/>
              </a:defRPr>
            </a:pPr>
            <a:r>
              <a:t>10,000</a:t>
            </a:r>
          </a:p>
        </p:txBody>
      </p:sp>
      <p:sp>
        <p:nvSpPr>
          <p:cNvPr id="24" name="TextBox 23"/>
          <p:cNvSpPr txBox="1"/>
          <p:nvPr/>
        </p:nvSpPr>
        <p:spPr>
          <a:xfrm>
            <a:off x="8028431" y="4864608"/>
            <a:ext cx="1920240" cy="292608"/>
          </a:xfrm>
          <a:prstGeom prst="rect">
            <a:avLst/>
          </a:prstGeom>
          <a:noFill/>
        </p:spPr>
        <p:txBody>
          <a:bodyPr wrap="square" lIns="0" rIns="0" tIns="0" bIns="0" anchor="t">
            <a:spAutoFit/>
          </a:bodyPr>
          <a:lstStyle/>
          <a:p>
            <a:pPr algn="l">
              <a:defRPr sz="1400" b="0">
                <a:solidFill>
                  <a:srgbClr val="566970"/>
                </a:solidFill>
                <a:latin typeface="Aptos"/>
              </a:defRPr>
            </a:pPr>
            <a:r>
              <a:t>Lab results</a:t>
            </a:r>
          </a:p>
        </p:txBody>
      </p:sp>
      <p:sp>
        <p:nvSpPr>
          <p:cNvPr id="25" name="TextBox 24"/>
          <p:cNvSpPr txBox="1"/>
          <p:nvPr/>
        </p:nvSpPr>
        <p:spPr>
          <a:xfrm>
            <a:off x="9893808" y="4864608"/>
            <a:ext cx="1234440" cy="292608"/>
          </a:xfrm>
          <a:prstGeom prst="rect">
            <a:avLst/>
          </a:prstGeom>
          <a:noFill/>
        </p:spPr>
        <p:txBody>
          <a:bodyPr wrap="square" lIns="0" rIns="0" tIns="0" bIns="0" anchor="t">
            <a:spAutoFit/>
          </a:bodyPr>
          <a:lstStyle/>
          <a:p>
            <a:pPr algn="r">
              <a:defRPr sz="1700" b="1">
                <a:solidFill>
                  <a:srgbClr val="0B3040"/>
                </a:solidFill>
                <a:latin typeface="Aptos"/>
              </a:defRPr>
            </a:pPr>
            <a:r>
              <a:t>10,000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Ten core healthcare KPIs</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Each measure is shown separately; values follow the supplied dashboards and SQL outputs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4</a:t>
            </a:r>
          </a:p>
        </p:txBody>
      </p:sp>
      <p:sp>
        <p:nvSpPr>
          <p:cNvPr id="9" name="Rounded Rectangle 8"/>
          <p:cNvSpPr/>
          <p:nvPr/>
        </p:nvSpPr>
        <p:spPr>
          <a:xfrm>
            <a:off x="621792" y="1572768"/>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700784"/>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01</a:t>
            </a:r>
          </a:p>
        </p:txBody>
      </p:sp>
      <p:sp>
        <p:nvSpPr>
          <p:cNvPr id="11" name="TextBox 10"/>
          <p:cNvSpPr txBox="1"/>
          <p:nvPr/>
        </p:nvSpPr>
        <p:spPr>
          <a:xfrm>
            <a:off x="1335024" y="1664208"/>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Total patients</a:t>
            </a:r>
          </a:p>
        </p:txBody>
      </p:sp>
      <p:sp>
        <p:nvSpPr>
          <p:cNvPr id="12" name="TextBox 11"/>
          <p:cNvSpPr txBox="1"/>
          <p:nvPr/>
        </p:nvSpPr>
        <p:spPr>
          <a:xfrm>
            <a:off x="3685032" y="1645920"/>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10,000</a:t>
            </a:r>
          </a:p>
        </p:txBody>
      </p:sp>
      <p:sp>
        <p:nvSpPr>
          <p:cNvPr id="13" name="TextBox 12"/>
          <p:cNvSpPr txBox="1"/>
          <p:nvPr/>
        </p:nvSpPr>
        <p:spPr>
          <a:xfrm>
            <a:off x="1335024" y="1975104"/>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Patient records in the dataset.</a:t>
            </a:r>
          </a:p>
        </p:txBody>
      </p:sp>
      <p:sp>
        <p:nvSpPr>
          <p:cNvPr id="14" name="Rounded Rectangle 13"/>
          <p:cNvSpPr/>
          <p:nvPr/>
        </p:nvSpPr>
        <p:spPr>
          <a:xfrm>
            <a:off x="6153912" y="1572768"/>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3" y="1700784"/>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02</a:t>
            </a:r>
          </a:p>
        </p:txBody>
      </p:sp>
      <p:sp>
        <p:nvSpPr>
          <p:cNvPr id="16" name="TextBox 15"/>
          <p:cNvSpPr txBox="1"/>
          <p:nvPr/>
        </p:nvSpPr>
        <p:spPr>
          <a:xfrm>
            <a:off x="6867144" y="1664208"/>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Total doctors</a:t>
            </a:r>
          </a:p>
        </p:txBody>
      </p:sp>
      <p:sp>
        <p:nvSpPr>
          <p:cNvPr id="17" name="TextBox 16"/>
          <p:cNvSpPr txBox="1"/>
          <p:nvPr/>
        </p:nvSpPr>
        <p:spPr>
          <a:xfrm>
            <a:off x="9217152" y="1645920"/>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1,000</a:t>
            </a:r>
          </a:p>
        </p:txBody>
      </p:sp>
      <p:sp>
        <p:nvSpPr>
          <p:cNvPr id="18" name="TextBox 17"/>
          <p:cNvSpPr txBox="1"/>
          <p:nvPr/>
        </p:nvSpPr>
        <p:spPr>
          <a:xfrm>
            <a:off x="6867144" y="1975104"/>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Doctor records in the dataset.</a:t>
            </a:r>
          </a:p>
        </p:txBody>
      </p:sp>
      <p:sp>
        <p:nvSpPr>
          <p:cNvPr id="19" name="Rounded Rectangle 18"/>
          <p:cNvSpPr/>
          <p:nvPr/>
        </p:nvSpPr>
        <p:spPr>
          <a:xfrm>
            <a:off x="621792" y="2514600"/>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2642616"/>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03</a:t>
            </a:r>
          </a:p>
        </p:txBody>
      </p:sp>
      <p:sp>
        <p:nvSpPr>
          <p:cNvPr id="21" name="TextBox 20"/>
          <p:cNvSpPr txBox="1"/>
          <p:nvPr/>
        </p:nvSpPr>
        <p:spPr>
          <a:xfrm>
            <a:off x="1335024" y="2606040"/>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Total visits</a:t>
            </a:r>
          </a:p>
        </p:txBody>
      </p:sp>
      <p:sp>
        <p:nvSpPr>
          <p:cNvPr id="22" name="TextBox 21"/>
          <p:cNvSpPr txBox="1"/>
          <p:nvPr/>
        </p:nvSpPr>
        <p:spPr>
          <a:xfrm>
            <a:off x="3685032" y="2587752"/>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10,000</a:t>
            </a:r>
          </a:p>
        </p:txBody>
      </p:sp>
      <p:sp>
        <p:nvSpPr>
          <p:cNvPr id="23" name="TextBox 22"/>
          <p:cNvSpPr txBox="1"/>
          <p:nvPr/>
        </p:nvSpPr>
        <p:spPr>
          <a:xfrm>
            <a:off x="1335024" y="2916936"/>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Recorded visit entries.</a:t>
            </a:r>
          </a:p>
        </p:txBody>
      </p:sp>
      <p:sp>
        <p:nvSpPr>
          <p:cNvPr id="24" name="Rounded Rectangle 23"/>
          <p:cNvSpPr/>
          <p:nvPr/>
        </p:nvSpPr>
        <p:spPr>
          <a:xfrm>
            <a:off x="6153912" y="2514600"/>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8503" y="2642616"/>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04</a:t>
            </a:r>
          </a:p>
        </p:txBody>
      </p:sp>
      <p:sp>
        <p:nvSpPr>
          <p:cNvPr id="26" name="TextBox 25"/>
          <p:cNvSpPr txBox="1"/>
          <p:nvPr/>
        </p:nvSpPr>
        <p:spPr>
          <a:xfrm>
            <a:off x="6867144" y="2606040"/>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Average patient age</a:t>
            </a:r>
          </a:p>
        </p:txBody>
      </p:sp>
      <p:sp>
        <p:nvSpPr>
          <p:cNvPr id="27" name="TextBox 26"/>
          <p:cNvSpPr txBox="1"/>
          <p:nvPr/>
        </p:nvSpPr>
        <p:spPr>
          <a:xfrm>
            <a:off x="9217152" y="2587752"/>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48.94 years</a:t>
            </a:r>
          </a:p>
        </p:txBody>
      </p:sp>
      <p:sp>
        <p:nvSpPr>
          <p:cNvPr id="28" name="TextBox 27"/>
          <p:cNvSpPr txBox="1"/>
          <p:nvPr/>
        </p:nvSpPr>
        <p:spPr>
          <a:xfrm>
            <a:off x="6867144" y="2916936"/>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Mean age across patient records.</a:t>
            </a:r>
          </a:p>
        </p:txBody>
      </p:sp>
      <p:sp>
        <p:nvSpPr>
          <p:cNvPr id="29" name="Rounded Rectangle 28"/>
          <p:cNvSpPr/>
          <p:nvPr/>
        </p:nvSpPr>
        <p:spPr>
          <a:xfrm>
            <a:off x="621792" y="3456432"/>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3584448"/>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05</a:t>
            </a:r>
          </a:p>
        </p:txBody>
      </p:sp>
      <p:sp>
        <p:nvSpPr>
          <p:cNvPr id="31" name="TextBox 30"/>
          <p:cNvSpPr txBox="1"/>
          <p:nvPr/>
        </p:nvSpPr>
        <p:spPr>
          <a:xfrm>
            <a:off x="1335024" y="3547872"/>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Top 5 conditions</a:t>
            </a:r>
          </a:p>
        </p:txBody>
      </p:sp>
      <p:sp>
        <p:nvSpPr>
          <p:cNvPr id="32" name="TextBox 31"/>
          <p:cNvSpPr txBox="1"/>
          <p:nvPr/>
        </p:nvSpPr>
        <p:spPr>
          <a:xfrm>
            <a:off x="3685032" y="3529584"/>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5 categories</a:t>
            </a:r>
          </a:p>
        </p:txBody>
      </p:sp>
      <p:sp>
        <p:nvSpPr>
          <p:cNvPr id="33" name="TextBox 32"/>
          <p:cNvSpPr txBox="1"/>
          <p:nvPr/>
        </p:nvSpPr>
        <p:spPr>
          <a:xfrm>
            <a:off x="1335024" y="3858768"/>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Migraine, Hypertension, Asthma, Healthy, Diabetes.</a:t>
            </a:r>
          </a:p>
        </p:txBody>
      </p:sp>
      <p:sp>
        <p:nvSpPr>
          <p:cNvPr id="34" name="Rounded Rectangle 33"/>
          <p:cNvSpPr/>
          <p:nvPr/>
        </p:nvSpPr>
        <p:spPr>
          <a:xfrm>
            <a:off x="6153912" y="3456432"/>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18503" y="3584448"/>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06</a:t>
            </a:r>
          </a:p>
        </p:txBody>
      </p:sp>
      <p:sp>
        <p:nvSpPr>
          <p:cNvPr id="36" name="TextBox 35"/>
          <p:cNvSpPr txBox="1"/>
          <p:nvPr/>
        </p:nvSpPr>
        <p:spPr>
          <a:xfrm>
            <a:off x="6867144" y="3547872"/>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Follow-up rate</a:t>
            </a:r>
          </a:p>
        </p:txBody>
      </p:sp>
      <p:sp>
        <p:nvSpPr>
          <p:cNvPr id="37" name="TextBox 36"/>
          <p:cNvSpPr txBox="1"/>
          <p:nvPr/>
        </p:nvSpPr>
        <p:spPr>
          <a:xfrm>
            <a:off x="9217152" y="3529584"/>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49.84%</a:t>
            </a:r>
          </a:p>
        </p:txBody>
      </p:sp>
      <p:sp>
        <p:nvSpPr>
          <p:cNvPr id="38" name="TextBox 37"/>
          <p:cNvSpPr txBox="1"/>
          <p:nvPr/>
        </p:nvSpPr>
        <p:spPr>
          <a:xfrm>
            <a:off x="6867144" y="3858768"/>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4,984 records marked Yes.</a:t>
            </a:r>
          </a:p>
        </p:txBody>
      </p:sp>
      <p:sp>
        <p:nvSpPr>
          <p:cNvPr id="39" name="Rounded Rectangle 38"/>
          <p:cNvSpPr/>
          <p:nvPr/>
        </p:nvSpPr>
        <p:spPr>
          <a:xfrm>
            <a:off x="621792" y="4398264"/>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6384" y="4526279"/>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07</a:t>
            </a:r>
          </a:p>
        </p:txBody>
      </p:sp>
      <p:sp>
        <p:nvSpPr>
          <p:cNvPr id="41" name="TextBox 40"/>
          <p:cNvSpPr txBox="1"/>
          <p:nvPr/>
        </p:nvSpPr>
        <p:spPr>
          <a:xfrm>
            <a:off x="1335024" y="4489703"/>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Average treatment cost</a:t>
            </a:r>
          </a:p>
        </p:txBody>
      </p:sp>
      <p:sp>
        <p:nvSpPr>
          <p:cNvPr id="42" name="TextBox 41"/>
          <p:cNvSpPr txBox="1"/>
          <p:nvPr/>
        </p:nvSpPr>
        <p:spPr>
          <a:xfrm>
            <a:off x="3685032" y="4471416"/>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₹524.75</a:t>
            </a:r>
          </a:p>
        </p:txBody>
      </p:sp>
      <p:sp>
        <p:nvSpPr>
          <p:cNvPr id="43" name="TextBox 42"/>
          <p:cNvSpPr txBox="1"/>
          <p:nvPr/>
        </p:nvSpPr>
        <p:spPr>
          <a:xfrm>
            <a:off x="1335024" y="4800600"/>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Average recorded treatment cost.</a:t>
            </a:r>
          </a:p>
        </p:txBody>
      </p:sp>
      <p:sp>
        <p:nvSpPr>
          <p:cNvPr id="44" name="Rounded Rectangle 43"/>
          <p:cNvSpPr/>
          <p:nvPr/>
        </p:nvSpPr>
        <p:spPr>
          <a:xfrm>
            <a:off x="6153912" y="4398264"/>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18503" y="4526279"/>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08</a:t>
            </a:r>
          </a:p>
        </p:txBody>
      </p:sp>
      <p:sp>
        <p:nvSpPr>
          <p:cNvPr id="46" name="TextBox 45"/>
          <p:cNvSpPr txBox="1"/>
          <p:nvPr/>
        </p:nvSpPr>
        <p:spPr>
          <a:xfrm>
            <a:off x="6867144" y="4489703"/>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Total lab tests</a:t>
            </a:r>
          </a:p>
        </p:txBody>
      </p:sp>
      <p:sp>
        <p:nvSpPr>
          <p:cNvPr id="47" name="TextBox 46"/>
          <p:cNvSpPr txBox="1"/>
          <p:nvPr/>
        </p:nvSpPr>
        <p:spPr>
          <a:xfrm>
            <a:off x="9217152" y="4471416"/>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10,000</a:t>
            </a:r>
          </a:p>
        </p:txBody>
      </p:sp>
      <p:sp>
        <p:nvSpPr>
          <p:cNvPr id="48" name="TextBox 47"/>
          <p:cNvSpPr txBox="1"/>
          <p:nvPr/>
        </p:nvSpPr>
        <p:spPr>
          <a:xfrm>
            <a:off x="6867144" y="4800600"/>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Lab-result records available.</a:t>
            </a:r>
          </a:p>
        </p:txBody>
      </p:sp>
      <p:sp>
        <p:nvSpPr>
          <p:cNvPr id="49" name="Rounded Rectangle 48"/>
          <p:cNvSpPr/>
          <p:nvPr/>
        </p:nvSpPr>
        <p:spPr>
          <a:xfrm>
            <a:off x="621792" y="5340096"/>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6384" y="5468112"/>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09</a:t>
            </a:r>
          </a:p>
        </p:txBody>
      </p:sp>
      <p:sp>
        <p:nvSpPr>
          <p:cNvPr id="51" name="TextBox 50"/>
          <p:cNvSpPr txBox="1"/>
          <p:nvPr/>
        </p:nvSpPr>
        <p:spPr>
          <a:xfrm>
            <a:off x="1335024" y="5431536"/>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Abnormal lab results</a:t>
            </a:r>
          </a:p>
        </p:txBody>
      </p:sp>
      <p:sp>
        <p:nvSpPr>
          <p:cNvPr id="52" name="TextBox 51"/>
          <p:cNvSpPr txBox="1"/>
          <p:nvPr/>
        </p:nvSpPr>
        <p:spPr>
          <a:xfrm>
            <a:off x="3685032" y="5413248"/>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33.54%</a:t>
            </a:r>
          </a:p>
        </p:txBody>
      </p:sp>
      <p:sp>
        <p:nvSpPr>
          <p:cNvPr id="53" name="TextBox 52"/>
          <p:cNvSpPr txBox="1"/>
          <p:nvPr/>
        </p:nvSpPr>
        <p:spPr>
          <a:xfrm>
            <a:off x="1335024" y="5742432"/>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3,354 records marked Abnormal.</a:t>
            </a:r>
          </a:p>
        </p:txBody>
      </p:sp>
      <p:sp>
        <p:nvSpPr>
          <p:cNvPr id="54" name="Rounded Rectangle 53"/>
          <p:cNvSpPr/>
          <p:nvPr/>
        </p:nvSpPr>
        <p:spPr>
          <a:xfrm>
            <a:off x="6153912" y="5340096"/>
            <a:ext cx="5230368" cy="804672"/>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18503" y="5468112"/>
            <a:ext cx="457200" cy="256032"/>
          </a:xfrm>
          <a:prstGeom prst="rect">
            <a:avLst/>
          </a:prstGeom>
          <a:noFill/>
        </p:spPr>
        <p:txBody>
          <a:bodyPr wrap="square" lIns="0" rIns="0" tIns="0" bIns="0" anchor="t">
            <a:spAutoFit/>
          </a:bodyPr>
          <a:lstStyle/>
          <a:p>
            <a:pPr algn="l">
              <a:defRPr sz="1100" b="1">
                <a:solidFill>
                  <a:srgbClr val="48A9A4"/>
                </a:solidFill>
                <a:latin typeface="Aptos"/>
              </a:defRPr>
            </a:pPr>
            <a:r>
              <a:t>10</a:t>
            </a:r>
          </a:p>
        </p:txBody>
      </p:sp>
      <p:sp>
        <p:nvSpPr>
          <p:cNvPr id="56" name="TextBox 55"/>
          <p:cNvSpPr txBox="1"/>
          <p:nvPr/>
        </p:nvSpPr>
        <p:spPr>
          <a:xfrm>
            <a:off x="6867144" y="5431536"/>
            <a:ext cx="2286000" cy="256032"/>
          </a:xfrm>
          <a:prstGeom prst="rect">
            <a:avLst/>
          </a:prstGeom>
          <a:noFill/>
        </p:spPr>
        <p:txBody>
          <a:bodyPr wrap="square" lIns="0" rIns="0" tIns="0" bIns="0" anchor="t">
            <a:spAutoFit/>
          </a:bodyPr>
          <a:lstStyle/>
          <a:p>
            <a:pPr algn="l">
              <a:defRPr sz="1300" b="1">
                <a:solidFill>
                  <a:srgbClr val="115B5F"/>
                </a:solidFill>
                <a:latin typeface="Aptos"/>
              </a:defRPr>
            </a:pPr>
            <a:r>
              <a:t>Doctor workload</a:t>
            </a:r>
          </a:p>
        </p:txBody>
      </p:sp>
      <p:sp>
        <p:nvSpPr>
          <p:cNvPr id="57" name="TextBox 56"/>
          <p:cNvSpPr txBox="1"/>
          <p:nvPr/>
        </p:nvSpPr>
        <p:spPr>
          <a:xfrm>
            <a:off x="9217152" y="5413248"/>
            <a:ext cx="1920240" cy="292608"/>
          </a:xfrm>
          <a:prstGeom prst="rect">
            <a:avLst/>
          </a:prstGeom>
          <a:noFill/>
        </p:spPr>
        <p:txBody>
          <a:bodyPr wrap="square" lIns="0" rIns="0" tIns="0" bIns="0" anchor="t">
            <a:spAutoFit/>
          </a:bodyPr>
          <a:lstStyle/>
          <a:p>
            <a:pPr algn="r">
              <a:defRPr sz="1600" b="1">
                <a:solidFill>
                  <a:srgbClr val="0B3040"/>
                </a:solidFill>
                <a:latin typeface="Aptos"/>
              </a:defRPr>
            </a:pPr>
            <a:r>
              <a:t>10.0</a:t>
            </a:r>
          </a:p>
        </p:txBody>
      </p:sp>
      <p:sp>
        <p:nvSpPr>
          <p:cNvPr id="58" name="TextBox 57"/>
          <p:cNvSpPr txBox="1"/>
          <p:nvPr/>
        </p:nvSpPr>
        <p:spPr>
          <a:xfrm>
            <a:off x="6867144" y="5742432"/>
            <a:ext cx="4297680" cy="256032"/>
          </a:xfrm>
          <a:prstGeom prst="rect">
            <a:avLst/>
          </a:prstGeom>
          <a:noFill/>
        </p:spPr>
        <p:txBody>
          <a:bodyPr wrap="square" lIns="0" rIns="0" tIns="0" bIns="0" anchor="t">
            <a:spAutoFit/>
          </a:bodyPr>
          <a:lstStyle/>
          <a:p>
            <a:pPr algn="l">
              <a:defRPr sz="950" b="0">
                <a:solidFill>
                  <a:srgbClr val="566970"/>
                </a:solidFill>
                <a:latin typeface="Aptos"/>
              </a:defRPr>
            </a:pPr>
            <a:r>
              <a:t>10,000 visits ÷ 1,000 doctors.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Excel dashboard</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Initial KPI overview • PivotTables • interactive slicers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5</a:t>
            </a:r>
          </a:p>
        </p:txBody>
      </p:sp>
      <p:sp>
        <p:nvSpPr>
          <p:cNvPr id="9" name="Rounded Rectangle 8"/>
          <p:cNvSpPr/>
          <p:nvPr/>
        </p:nvSpPr>
        <p:spPr>
          <a:xfrm>
            <a:off x="502920" y="1554480"/>
            <a:ext cx="6949440" cy="4526280"/>
          </a:xfrm>
          <a:prstGeom prst="roundRect">
            <a:avLst/>
          </a:prstGeom>
          <a:solidFill>
            <a:srgbClr val="F7FAFA"/>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reenshot (280)(1).png"/>
          <p:cNvPicPr>
            <a:picLocks noChangeAspect="1"/>
          </p:cNvPicPr>
          <p:nvPr/>
        </p:nvPicPr>
        <p:blipFill>
          <a:blip r:embed="rId2"/>
          <a:stretch>
            <a:fillRect/>
          </a:stretch>
        </p:blipFill>
        <p:spPr>
          <a:xfrm>
            <a:off x="1179650" y="1682496"/>
            <a:ext cx="5586835" cy="4224528"/>
          </a:xfrm>
          <a:prstGeom prst="rect">
            <a:avLst/>
          </a:prstGeom>
        </p:spPr>
      </p:pic>
      <p:sp>
        <p:nvSpPr>
          <p:cNvPr id="11" name="Rounded Rectangle 10"/>
          <p:cNvSpPr/>
          <p:nvPr/>
        </p:nvSpPr>
        <p:spPr>
          <a:xfrm>
            <a:off x="7726679" y="1554480"/>
            <a:ext cx="3886200" cy="4526280"/>
          </a:xfrm>
          <a:prstGeom prst="roundRect">
            <a:avLst/>
          </a:prstGeom>
          <a:solidFill>
            <a:srgbClr val="E8F6F5"/>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1810512"/>
            <a:ext cx="3337560" cy="320040"/>
          </a:xfrm>
          <a:prstGeom prst="rect">
            <a:avLst/>
          </a:prstGeom>
          <a:noFill/>
        </p:spPr>
        <p:txBody>
          <a:bodyPr wrap="square" lIns="0" rIns="0" tIns="0" bIns="0" anchor="t">
            <a:spAutoFit/>
          </a:bodyPr>
          <a:lstStyle/>
          <a:p>
            <a:pPr algn="l">
              <a:defRPr sz="1400" b="1">
                <a:solidFill>
                  <a:srgbClr val="115B5F"/>
                </a:solidFill>
                <a:latin typeface="Aptos"/>
              </a:defRPr>
            </a:pPr>
            <a:r>
              <a:t>WHAT THE DASHBOARD PROVIDES</a:t>
            </a:r>
          </a:p>
        </p:txBody>
      </p:sp>
      <p:sp>
        <p:nvSpPr>
          <p:cNvPr id="13" name="TextBox 12"/>
          <p:cNvSpPr txBox="1"/>
          <p:nvPr/>
        </p:nvSpPr>
        <p:spPr>
          <a:xfrm>
            <a:off x="7973568" y="2212848"/>
            <a:ext cx="3364992" cy="3200400"/>
          </a:xfrm>
          <a:prstGeom prst="rect">
            <a:avLst/>
          </a:prstGeom>
          <a:noFill/>
        </p:spPr>
        <p:txBody>
          <a:bodyPr wrap="square" lIns="109728" rIns="109728" tIns="91440" bIns="73152">
            <a:spAutoFit/>
          </a:bodyPr>
          <a:lstStyle/>
          <a:p>
            <a:pPr>
              <a:spcAft>
                <a:spcPts val="1000"/>
              </a:spcAft>
              <a:defRPr sz="1300">
                <a:solidFill>
                  <a:srgbClr val="1C2B33"/>
                </a:solidFill>
                <a:latin typeface="Aptos"/>
              </a:defRPr>
            </a:pPr>
            <a:r>
              <a:t>Headline KPI cards for quick scanning.</a:t>
            </a:r>
          </a:p>
          <a:p>
            <a:pPr>
              <a:spcAft>
                <a:spcPts val="1000"/>
              </a:spcAft>
              <a:defRPr sz="1300">
                <a:solidFill>
                  <a:srgbClr val="1C2B33"/>
                </a:solidFill>
                <a:latin typeface="Aptos"/>
              </a:defRPr>
            </a:pPr>
            <a:r>
              <a:t>Charts for diagnosis, lab status and operational measures.</a:t>
            </a:r>
          </a:p>
          <a:p>
            <a:pPr>
              <a:spcAft>
                <a:spcPts val="1000"/>
              </a:spcAft>
              <a:defRPr sz="1300">
                <a:solidFill>
                  <a:srgbClr val="1C2B33"/>
                </a:solidFill>
                <a:latin typeface="Aptos"/>
              </a:defRPr>
            </a:pPr>
            <a:r>
              <a:t>Slicers to focus the view on selected categories.</a:t>
            </a:r>
          </a:p>
          <a:p>
            <a:pPr>
              <a:spcAft>
                <a:spcPts val="1000"/>
              </a:spcAft>
              <a:defRPr sz="1300">
                <a:solidFill>
                  <a:srgbClr val="1C2B33"/>
                </a:solidFill>
                <a:latin typeface="Aptos"/>
              </a:defRPr>
            </a:pPr>
            <a:r>
              <a:t>Consistent number formats, titles, colours and spacing.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Excel workflow — data preparation</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Step-by-step process used before building the dashboard</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6</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Inspect and understand the workbook</a:t>
            </a:r>
          </a:p>
          <a:p>
            <a:pPr>
              <a:spcAft>
                <a:spcPts val="1100"/>
              </a:spcAft>
              <a:defRPr sz="1320">
                <a:solidFill>
                  <a:srgbClr val="1C2B33"/>
                </a:solidFill>
                <a:latin typeface="Aptos"/>
              </a:defRPr>
            </a:pPr>
            <a:r>
              <a:t>Reviewed sheets, column headings, field meaning and record structure. Identified the patient, doctor, visit, treatment and lab-result information needed for the analysis.</a:t>
            </a:r>
          </a:p>
          <a:p>
            <a:pPr>
              <a:spcAft>
                <a:spcPts val="300"/>
              </a:spcAft>
              <a:defRPr sz="1700" b="1">
                <a:solidFill>
                  <a:srgbClr val="115B5F"/>
                </a:solidFill>
                <a:latin typeface="Aptos Display"/>
              </a:defRPr>
            </a:pPr>
            <a:r>
              <a:t>2. Clean and transform the data</a:t>
            </a:r>
          </a:p>
          <a:p>
            <a:pPr>
              <a:spcAft>
                <a:spcPts val="1100"/>
              </a:spcAft>
              <a:defRPr sz="1320">
                <a:solidFill>
                  <a:srgbClr val="1C2B33"/>
                </a:solidFill>
                <a:latin typeface="Aptos"/>
              </a:defRPr>
            </a:pPr>
            <a:r>
              <a:t>Checked column names, blank values, data types, category spelling and values that could affect summaries. Standardised fields where needed so dates, IDs, text and numeric values could be used consistently.</a:t>
            </a:r>
          </a:p>
          <a:p>
            <a:pPr>
              <a:spcAft>
                <a:spcPts val="300"/>
              </a:spcAft>
              <a:defRPr sz="1700" b="1">
                <a:solidFill>
                  <a:srgbClr val="115B5F"/>
                </a:solidFill>
                <a:latin typeface="Aptos Display"/>
              </a:defRPr>
            </a:pPr>
            <a:r>
              <a:t>3. Check quality before analysis</a:t>
            </a:r>
          </a:p>
          <a:p>
            <a:pPr>
              <a:spcAft>
                <a:spcPts val="1100"/>
              </a:spcAft>
              <a:defRPr sz="1320">
                <a:solidFill>
                  <a:srgbClr val="1C2B33"/>
                </a:solidFill>
                <a:latin typeface="Aptos"/>
              </a:defRPr>
            </a:pPr>
            <a:r>
              <a:t>Looked for duplicate records and reviewed whether values were complete and logically consistent. These checks help identify potential issues; they do not prove every source value is clinically accurate.</a:t>
            </a:r>
          </a:p>
          <a:p>
            <a:pPr>
              <a:spcAft>
                <a:spcPts val="300"/>
              </a:spcAft>
              <a:defRPr sz="1700" b="1">
                <a:solidFill>
                  <a:srgbClr val="115B5F"/>
                </a:solidFill>
                <a:latin typeface="Aptos Display"/>
              </a:defRPr>
            </a:pPr>
            <a:r>
              <a:t>4. Load and prepare the analysis range</a:t>
            </a:r>
          </a:p>
          <a:p>
            <a:pPr>
              <a:spcAft>
                <a:spcPts val="1100"/>
              </a:spcAft>
              <a:defRPr sz="1320">
                <a:solidFill>
                  <a:srgbClr val="1C2B33"/>
                </a:solidFill>
                <a:latin typeface="Aptos"/>
              </a:defRPr>
            </a:pPr>
            <a:r>
              <a:t>Organised the prepared data into a usable Excel range/table, making it easier for PivotTables and charts to reference the source and refresh when the data changes.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Excel workflow — KPIs and PivotTables</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How the source data became summary measures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7</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Calculate the ten KPIs</a:t>
            </a:r>
          </a:p>
          <a:p>
            <a:pPr>
              <a:spcAft>
                <a:spcPts val="1100"/>
              </a:spcAft>
              <a:defRPr sz="1320">
                <a:solidFill>
                  <a:srgbClr val="1C2B33"/>
                </a:solidFill>
                <a:latin typeface="Aptos"/>
              </a:defRPr>
            </a:pPr>
            <a:r>
              <a:t>Prepared headline measures for patient and doctor counts, visit counts, average age, top condition categories, follow-up rate, average treatment cost, lab-result count, abnormal-lab rate and average visits per doctor.</a:t>
            </a:r>
          </a:p>
          <a:p>
            <a:pPr>
              <a:spcAft>
                <a:spcPts val="300"/>
              </a:spcAft>
              <a:defRPr sz="1700" b="1">
                <a:solidFill>
                  <a:srgbClr val="115B5F"/>
                </a:solidFill>
                <a:latin typeface="Aptos Display"/>
              </a:defRPr>
            </a:pPr>
            <a:r>
              <a:t>2. Build PivotTables</a:t>
            </a:r>
          </a:p>
          <a:p>
            <a:pPr>
              <a:spcAft>
                <a:spcPts val="1100"/>
              </a:spcAft>
              <a:defRPr sz="1320">
                <a:solidFill>
                  <a:srgbClr val="1C2B33"/>
                </a:solidFill>
                <a:latin typeface="Aptos"/>
              </a:defRPr>
            </a:pPr>
            <a:r>
              <a:t>Grouped and summarised fields to count visits by diagnosis, compare lab-result status, review follow-up categories and aggregate relevant operational measures. Selected Count, Average or other aggregations according to the question.</a:t>
            </a:r>
          </a:p>
          <a:p>
            <a:pPr>
              <a:spcAft>
                <a:spcPts val="300"/>
              </a:spcAft>
              <a:defRPr sz="1700" b="1">
                <a:solidFill>
                  <a:srgbClr val="115B5F"/>
                </a:solidFill>
                <a:latin typeface="Aptos Display"/>
              </a:defRPr>
            </a:pPr>
            <a:r>
              <a:t>3. Create visuals from the summaries</a:t>
            </a:r>
          </a:p>
          <a:p>
            <a:pPr>
              <a:spcAft>
                <a:spcPts val="1100"/>
              </a:spcAft>
              <a:defRPr sz="1320">
                <a:solidFill>
                  <a:srgbClr val="1C2B33"/>
                </a:solidFill>
                <a:latin typeface="Aptos"/>
              </a:defRPr>
            </a:pPr>
            <a:r>
              <a:t>Created charts linked to the PivotTables so the visuals could communicate category comparisons and status distributions more quickly than raw rows.</a:t>
            </a:r>
          </a:p>
          <a:p>
            <a:pPr>
              <a:spcAft>
                <a:spcPts val="300"/>
              </a:spcAft>
              <a:defRPr sz="1700" b="1">
                <a:solidFill>
                  <a:srgbClr val="115B5F"/>
                </a:solidFill>
                <a:latin typeface="Aptos Display"/>
              </a:defRPr>
            </a:pPr>
            <a:r>
              <a:t>4. Validate the outputs</a:t>
            </a:r>
          </a:p>
          <a:p>
            <a:pPr>
              <a:spcAft>
                <a:spcPts val="1100"/>
              </a:spcAft>
              <a:defRPr sz="1320">
                <a:solidFill>
                  <a:srgbClr val="1C2B33"/>
                </a:solidFill>
                <a:latin typeface="Aptos"/>
              </a:defRPr>
            </a:pPr>
            <a:r>
              <a:t>Compared the displayed summaries with expected counts and formulas. The aim was to keep KPI cards, PivotTables and charts aligned with the same definitions.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Excel workflow — dashboard design</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Presentation and interaction choices that made the dashboard easier to use</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8</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Arrange information by priority</a:t>
            </a:r>
          </a:p>
          <a:p>
            <a:pPr>
              <a:spcAft>
                <a:spcPts val="1100"/>
              </a:spcAft>
              <a:defRPr sz="1320">
                <a:solidFill>
                  <a:srgbClr val="1C2B33"/>
                </a:solidFill>
                <a:latin typeface="Aptos"/>
              </a:defRPr>
            </a:pPr>
            <a:r>
              <a:t>Placed headline metrics prominently and grouped supporting charts into a clear reading order. Used concise titles and labels so viewers could interpret each visual without searching through the source data.</a:t>
            </a:r>
          </a:p>
          <a:p>
            <a:pPr>
              <a:spcAft>
                <a:spcPts val="300"/>
              </a:spcAft>
              <a:defRPr sz="1700" b="1">
                <a:solidFill>
                  <a:srgbClr val="115B5F"/>
                </a:solidFill>
                <a:latin typeface="Aptos Display"/>
              </a:defRPr>
            </a:pPr>
            <a:r>
              <a:t>2. Add slicers and connect them</a:t>
            </a:r>
          </a:p>
          <a:p>
            <a:pPr>
              <a:spcAft>
                <a:spcPts val="1100"/>
              </a:spcAft>
              <a:defRPr sz="1320">
                <a:solidFill>
                  <a:srgbClr val="1C2B33"/>
                </a:solidFill>
                <a:latin typeface="Aptos"/>
              </a:defRPr>
            </a:pPr>
            <a:r>
              <a:t>Inserted slicers for relevant categories and connected each slicer to the PivotTables it should control. Checked the report connections so a filter updates the intended charts rather than leaving unrelated visuals unchanged.</a:t>
            </a:r>
          </a:p>
          <a:p>
            <a:pPr>
              <a:spcAft>
                <a:spcPts val="300"/>
              </a:spcAft>
              <a:defRPr sz="1700" b="1">
                <a:solidFill>
                  <a:srgbClr val="115B5F"/>
                </a:solidFill>
                <a:latin typeface="Aptos Display"/>
              </a:defRPr>
            </a:pPr>
            <a:r>
              <a:t>3. Apply consistent formatting</a:t>
            </a:r>
          </a:p>
          <a:p>
            <a:pPr>
              <a:spcAft>
                <a:spcPts val="1100"/>
              </a:spcAft>
              <a:defRPr sz="1320">
                <a:solidFill>
                  <a:srgbClr val="1C2B33"/>
                </a:solidFill>
                <a:latin typeface="Aptos"/>
              </a:defRPr>
            </a:pPr>
            <a:r>
              <a:t>Adjusted chart sizes, alignments, fonts, number formats, borders and colour choices. Used a consistent visual hierarchy to make the dashboard look professional and reduce clutter.</a:t>
            </a:r>
          </a:p>
          <a:p>
            <a:pPr>
              <a:spcAft>
                <a:spcPts val="300"/>
              </a:spcAft>
              <a:defRPr sz="1700" b="1">
                <a:solidFill>
                  <a:srgbClr val="115B5F"/>
                </a:solidFill>
                <a:latin typeface="Aptos Display"/>
              </a:defRPr>
            </a:pPr>
            <a:r>
              <a:t>4. Add design elements and review</a:t>
            </a:r>
          </a:p>
          <a:p>
            <a:pPr>
              <a:spcAft>
                <a:spcPts val="1100"/>
              </a:spcAft>
              <a:defRPr sz="1320">
                <a:solidFill>
                  <a:srgbClr val="1C2B33"/>
                </a:solidFill>
                <a:latin typeface="Aptos"/>
              </a:defRPr>
            </a:pPr>
            <a:r>
              <a:t>Added dashboard branding, icons/symbols for KPI cards such as patients and doctors, and a background image/design element. Reviewed spacing, readability and whether key numbers remained visible after filtering.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Power BI dashboard</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Power Query • data model • measures • interactive report</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9</a:t>
            </a:r>
          </a:p>
        </p:txBody>
      </p:sp>
      <p:sp>
        <p:nvSpPr>
          <p:cNvPr id="9" name="Rounded Rectangle 8"/>
          <p:cNvSpPr/>
          <p:nvPr/>
        </p:nvSpPr>
        <p:spPr>
          <a:xfrm>
            <a:off x="502920" y="1554480"/>
            <a:ext cx="6949440" cy="4526280"/>
          </a:xfrm>
          <a:prstGeom prst="roundRect">
            <a:avLst/>
          </a:prstGeom>
          <a:solidFill>
            <a:srgbClr val="F7FAFA"/>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hatsApp Image 2026-10-17 at 11.53.26 PM(1).jpeg"/>
          <p:cNvPicPr>
            <a:picLocks noChangeAspect="1"/>
          </p:cNvPicPr>
          <p:nvPr/>
        </p:nvPicPr>
        <p:blipFill>
          <a:blip r:embed="rId2"/>
          <a:stretch>
            <a:fillRect/>
          </a:stretch>
        </p:blipFill>
        <p:spPr>
          <a:xfrm>
            <a:off x="658368" y="1920679"/>
            <a:ext cx="6629399" cy="3748160"/>
          </a:xfrm>
          <a:prstGeom prst="rect">
            <a:avLst/>
          </a:prstGeom>
        </p:spPr>
      </p:pic>
      <p:sp>
        <p:nvSpPr>
          <p:cNvPr id="11" name="Rounded Rectangle 10"/>
          <p:cNvSpPr/>
          <p:nvPr/>
        </p:nvSpPr>
        <p:spPr>
          <a:xfrm>
            <a:off x="7726679" y="1554480"/>
            <a:ext cx="3886200" cy="4526280"/>
          </a:xfrm>
          <a:prstGeom prst="roundRect">
            <a:avLst/>
          </a:prstGeom>
          <a:solidFill>
            <a:srgbClr val="E8F6F5"/>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1810512"/>
            <a:ext cx="3337560" cy="320040"/>
          </a:xfrm>
          <a:prstGeom prst="rect">
            <a:avLst/>
          </a:prstGeom>
          <a:noFill/>
        </p:spPr>
        <p:txBody>
          <a:bodyPr wrap="square" lIns="0" rIns="0" tIns="0" bIns="0" anchor="t">
            <a:spAutoFit/>
          </a:bodyPr>
          <a:lstStyle/>
          <a:p>
            <a:pPr algn="l">
              <a:defRPr sz="1400" b="1">
                <a:solidFill>
                  <a:srgbClr val="115B5F"/>
                </a:solidFill>
                <a:latin typeface="Aptos"/>
              </a:defRPr>
            </a:pPr>
            <a:r>
              <a:t>REPORT FOCUS</a:t>
            </a:r>
          </a:p>
        </p:txBody>
      </p:sp>
      <p:sp>
        <p:nvSpPr>
          <p:cNvPr id="13" name="TextBox 12"/>
          <p:cNvSpPr txBox="1"/>
          <p:nvPr/>
        </p:nvSpPr>
        <p:spPr>
          <a:xfrm>
            <a:off x="7973568" y="2212848"/>
            <a:ext cx="3364992" cy="3200400"/>
          </a:xfrm>
          <a:prstGeom prst="rect">
            <a:avLst/>
          </a:prstGeom>
          <a:noFill/>
        </p:spPr>
        <p:txBody>
          <a:bodyPr wrap="square" lIns="109728" rIns="109728" tIns="91440" bIns="73152">
            <a:spAutoFit/>
          </a:bodyPr>
          <a:lstStyle/>
          <a:p>
            <a:pPr>
              <a:spcAft>
                <a:spcPts val="1000"/>
              </a:spcAft>
              <a:defRPr sz="1300">
                <a:solidFill>
                  <a:srgbClr val="1C2B33"/>
                </a:solidFill>
                <a:latin typeface="Aptos"/>
              </a:defRPr>
            </a:pPr>
            <a:r>
              <a:t>KPI cards and summary visuals.</a:t>
            </a:r>
          </a:p>
          <a:p>
            <a:pPr>
              <a:spcAft>
                <a:spcPts val="1000"/>
              </a:spcAft>
              <a:defRPr sz="1300">
                <a:solidFill>
                  <a:srgbClr val="1C2B33"/>
                </a:solidFill>
                <a:latin typeface="Aptos"/>
              </a:defRPr>
            </a:pPr>
            <a:r>
              <a:t>Diagnosis and lab-result breakdowns.</a:t>
            </a:r>
          </a:p>
          <a:p>
            <a:pPr>
              <a:spcAft>
                <a:spcPts val="1000"/>
              </a:spcAft>
              <a:defRPr sz="1300">
                <a:solidFill>
                  <a:srgbClr val="1C2B33"/>
                </a:solidFill>
                <a:latin typeface="Aptos"/>
              </a:defRPr>
            </a:pPr>
            <a:r>
              <a:t>Follow-up and visit comparisons.</a:t>
            </a:r>
          </a:p>
          <a:p>
            <a:pPr>
              <a:spcAft>
                <a:spcPts val="1000"/>
              </a:spcAft>
              <a:defRPr sz="1300">
                <a:solidFill>
                  <a:srgbClr val="1C2B33"/>
                </a:solidFill>
                <a:latin typeface="Aptos"/>
              </a:defRPr>
            </a:pPr>
            <a:r>
              <a:t>Filters that allow focused exploration.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Power BI workflow — Power Query and model</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Preparation steps that support reliable relationships and calculations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10</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Import and inspect tables</a:t>
            </a:r>
          </a:p>
          <a:p>
            <a:pPr>
              <a:spcAft>
                <a:spcPts val="1100"/>
              </a:spcAft>
              <a:defRPr sz="1320">
                <a:solidFill>
                  <a:srgbClr val="1C2B33"/>
                </a:solidFill>
                <a:latin typeface="Aptos"/>
              </a:defRPr>
            </a:pPr>
            <a:r>
              <a:t>Loaded the relevant healthcare tables and reviewed field names, data types, IDs and category columns before building visuals.</a:t>
            </a:r>
          </a:p>
          <a:p>
            <a:pPr>
              <a:spcAft>
                <a:spcPts val="300"/>
              </a:spcAft>
              <a:defRPr sz="1700" b="1">
                <a:solidFill>
                  <a:srgbClr val="115B5F"/>
                </a:solidFill>
                <a:latin typeface="Aptos Display"/>
              </a:defRPr>
            </a:pPr>
            <a:r>
              <a:t>2. Clean and transform in Power Query</a:t>
            </a:r>
          </a:p>
          <a:p>
            <a:pPr>
              <a:spcAft>
                <a:spcPts val="1100"/>
              </a:spcAft>
              <a:defRPr sz="1320">
                <a:solidFill>
                  <a:srgbClr val="1C2B33"/>
                </a:solidFill>
                <a:latin typeface="Aptos"/>
              </a:defRPr>
            </a:pPr>
            <a:r>
              <a:t>Checked types for dates, numbers and text; reviewed nulls and category consistency; renamed or adjusted fields where appropriate. Applied transformations before loading the cleaned result into the report model.</a:t>
            </a:r>
          </a:p>
          <a:p>
            <a:pPr>
              <a:spcAft>
                <a:spcPts val="300"/>
              </a:spcAft>
              <a:defRPr sz="1700" b="1">
                <a:solidFill>
                  <a:srgbClr val="115B5F"/>
                </a:solidFill>
                <a:latin typeface="Aptos Display"/>
              </a:defRPr>
            </a:pPr>
            <a:r>
              <a:t>3. Review relationships and data grain</a:t>
            </a:r>
          </a:p>
          <a:p>
            <a:pPr>
              <a:spcAft>
                <a:spcPts val="1100"/>
              </a:spcAft>
              <a:defRPr sz="1320">
                <a:solidFill>
                  <a:srgbClr val="1C2B33"/>
                </a:solidFill>
                <a:latin typeface="Aptos"/>
              </a:defRPr>
            </a:pPr>
            <a:r>
              <a:t>Connected related tables through the appropriate keys, checking that the relationships represented how patient, doctor, visit, treatment and lab-result records relate. Correct relationships reduce the risk of incorrect counts or duplicated totals.</a:t>
            </a:r>
          </a:p>
          <a:p>
            <a:pPr>
              <a:spcAft>
                <a:spcPts val="300"/>
              </a:spcAft>
              <a:defRPr sz="1700" b="1">
                <a:solidFill>
                  <a:srgbClr val="115B5F"/>
                </a:solidFill>
                <a:latin typeface="Aptos Display"/>
              </a:defRPr>
            </a:pPr>
            <a:r>
              <a:t>4. Apply modelling discipline</a:t>
            </a:r>
          </a:p>
          <a:p>
            <a:pPr>
              <a:spcAft>
                <a:spcPts val="1100"/>
              </a:spcAft>
              <a:defRPr sz="1320">
                <a:solidFill>
                  <a:srgbClr val="1C2B33"/>
                </a:solidFill>
                <a:latin typeface="Aptos"/>
              </a:defRPr>
            </a:pPr>
            <a:r>
              <a:t>Kept identifiers distinct from numeric measures, checked relationship direction and cardinality where applicable, and ensured date and category fields could be used meaningfully in filters and visuals.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Power BI workflow — measures and report design</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How measures, visuals and filters work together</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11</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Define calculations and measures</a:t>
            </a:r>
          </a:p>
          <a:p>
            <a:pPr>
              <a:spcAft>
                <a:spcPts val="1100"/>
              </a:spcAft>
              <a:defRPr sz="1320">
                <a:solidFill>
                  <a:srgbClr val="1C2B33"/>
                </a:solidFill>
                <a:latin typeface="Aptos"/>
              </a:defRPr>
            </a:pPr>
            <a:r>
              <a:t>Created or used calculations for patient counts, visit counts, average age, follow-up percentage, average treatment cost, abnormal-lab percentage and visits per doctor. Used aggregation logic that matches each KPI definition.</a:t>
            </a:r>
          </a:p>
          <a:p>
            <a:pPr>
              <a:spcAft>
                <a:spcPts val="300"/>
              </a:spcAft>
              <a:defRPr sz="1700" b="1">
                <a:solidFill>
                  <a:srgbClr val="115B5F"/>
                </a:solidFill>
                <a:latin typeface="Aptos Display"/>
              </a:defRPr>
            </a:pPr>
            <a:r>
              <a:t>2. Build KPI cards and supporting charts</a:t>
            </a:r>
          </a:p>
          <a:p>
            <a:pPr>
              <a:spcAft>
                <a:spcPts val="1100"/>
              </a:spcAft>
              <a:defRPr sz="1320">
                <a:solidFill>
                  <a:srgbClr val="1C2B33"/>
                </a:solidFill>
                <a:latin typeface="Aptos"/>
              </a:defRPr>
            </a:pPr>
            <a:r>
              <a:t>Used cards for the headline figures and charts for condition categories, lab-result status, follow-up and visit patterns. Each visual was selected to answer a specific question rather than simply fill space.</a:t>
            </a:r>
          </a:p>
          <a:p>
            <a:pPr>
              <a:spcAft>
                <a:spcPts val="300"/>
              </a:spcAft>
              <a:defRPr sz="1700" b="1">
                <a:solidFill>
                  <a:srgbClr val="115B5F"/>
                </a:solidFill>
                <a:latin typeface="Aptos Display"/>
              </a:defRPr>
            </a:pPr>
            <a:r>
              <a:t>3. Add slicers and configure interactions</a:t>
            </a:r>
          </a:p>
          <a:p>
            <a:pPr>
              <a:spcAft>
                <a:spcPts val="1100"/>
              </a:spcAft>
              <a:defRPr sz="1320">
                <a:solidFill>
                  <a:srgbClr val="1C2B33"/>
                </a:solidFill>
                <a:latin typeface="Aptos"/>
              </a:defRPr>
            </a:pPr>
            <a:r>
              <a:t>Added relevant filters such as visit year, visit type and diagnosis. Reviewed which visuals should respond to each slicer so users can explore a subset without confusing or misleading interactions.</a:t>
            </a:r>
          </a:p>
          <a:p>
            <a:pPr>
              <a:spcAft>
                <a:spcPts val="300"/>
              </a:spcAft>
              <a:defRPr sz="1700" b="1">
                <a:solidFill>
                  <a:srgbClr val="115B5F"/>
                </a:solidFill>
                <a:latin typeface="Aptos Display"/>
              </a:defRPr>
            </a:pPr>
            <a:r>
              <a:t>4. Format and validate the report</a:t>
            </a:r>
          </a:p>
          <a:p>
            <a:pPr>
              <a:spcAft>
                <a:spcPts val="1100"/>
              </a:spcAft>
              <a:defRPr sz="1320">
                <a:solidFill>
                  <a:srgbClr val="1C2B33"/>
                </a:solidFill>
                <a:latin typeface="Aptos"/>
              </a:defRPr>
            </a:pPr>
            <a:r>
              <a:t>Aligned visuals, applied consistent titles and colours, checked units and labels, and compared key outputs with the Excel summaries and SQL checks where available.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Tableau dashboard</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Worksheets combined into a single visual exploration space</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12</a:t>
            </a:r>
          </a:p>
        </p:txBody>
      </p:sp>
      <p:sp>
        <p:nvSpPr>
          <p:cNvPr id="9" name="Rounded Rectangle 8"/>
          <p:cNvSpPr/>
          <p:nvPr/>
        </p:nvSpPr>
        <p:spPr>
          <a:xfrm>
            <a:off x="502920" y="1554480"/>
            <a:ext cx="6949440" cy="4526280"/>
          </a:xfrm>
          <a:prstGeom prst="roundRect">
            <a:avLst/>
          </a:prstGeom>
          <a:solidFill>
            <a:srgbClr val="F7FAFA"/>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reenshot (279).png"/>
          <p:cNvPicPr>
            <a:picLocks noChangeAspect="1"/>
          </p:cNvPicPr>
          <p:nvPr/>
        </p:nvPicPr>
        <p:blipFill>
          <a:blip r:embed="rId2"/>
          <a:stretch>
            <a:fillRect/>
          </a:stretch>
        </p:blipFill>
        <p:spPr>
          <a:xfrm>
            <a:off x="658368" y="2137410"/>
            <a:ext cx="6629399" cy="3314699"/>
          </a:xfrm>
          <a:prstGeom prst="rect">
            <a:avLst/>
          </a:prstGeom>
        </p:spPr>
      </p:pic>
      <p:sp>
        <p:nvSpPr>
          <p:cNvPr id="11" name="Rounded Rectangle 10"/>
          <p:cNvSpPr/>
          <p:nvPr/>
        </p:nvSpPr>
        <p:spPr>
          <a:xfrm>
            <a:off x="7726679" y="1554480"/>
            <a:ext cx="3886200" cy="4526280"/>
          </a:xfrm>
          <a:prstGeom prst="roundRect">
            <a:avLst/>
          </a:prstGeom>
          <a:solidFill>
            <a:srgbClr val="E8F6F5"/>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1810512"/>
            <a:ext cx="3337560" cy="320040"/>
          </a:xfrm>
          <a:prstGeom prst="rect">
            <a:avLst/>
          </a:prstGeom>
          <a:noFill/>
        </p:spPr>
        <p:txBody>
          <a:bodyPr wrap="square" lIns="0" rIns="0" tIns="0" bIns="0" anchor="t">
            <a:spAutoFit/>
          </a:bodyPr>
          <a:lstStyle/>
          <a:p>
            <a:pPr algn="l">
              <a:defRPr sz="1400" b="1">
                <a:solidFill>
                  <a:srgbClr val="115B5F"/>
                </a:solidFill>
                <a:latin typeface="Aptos"/>
              </a:defRPr>
            </a:pPr>
            <a:r>
              <a:t>TABLEAU VIEW</a:t>
            </a:r>
          </a:p>
        </p:txBody>
      </p:sp>
      <p:sp>
        <p:nvSpPr>
          <p:cNvPr id="13" name="TextBox 12"/>
          <p:cNvSpPr txBox="1"/>
          <p:nvPr/>
        </p:nvSpPr>
        <p:spPr>
          <a:xfrm>
            <a:off x="7973568" y="2212848"/>
            <a:ext cx="3364992" cy="3200400"/>
          </a:xfrm>
          <a:prstGeom prst="rect">
            <a:avLst/>
          </a:prstGeom>
          <a:noFill/>
        </p:spPr>
        <p:txBody>
          <a:bodyPr wrap="square" lIns="109728" rIns="109728" tIns="91440" bIns="73152">
            <a:spAutoFit/>
          </a:bodyPr>
          <a:lstStyle/>
          <a:p>
            <a:pPr>
              <a:spcAft>
                <a:spcPts val="1000"/>
              </a:spcAft>
              <a:defRPr sz="1300">
                <a:solidFill>
                  <a:srgbClr val="1C2B33"/>
                </a:solidFill>
                <a:latin typeface="Aptos"/>
              </a:defRPr>
            </a:pPr>
            <a:r>
              <a:t>KPI and category summaries.</a:t>
            </a:r>
          </a:p>
          <a:p>
            <a:pPr>
              <a:spcAft>
                <a:spcPts val="1000"/>
              </a:spcAft>
              <a:defRPr sz="1300">
                <a:solidFill>
                  <a:srgbClr val="1C2B33"/>
                </a:solidFill>
                <a:latin typeface="Aptos"/>
              </a:defRPr>
            </a:pPr>
            <a:r>
              <a:t>Separate worksheets for different questions.</a:t>
            </a:r>
          </a:p>
          <a:p>
            <a:pPr>
              <a:spcAft>
                <a:spcPts val="1000"/>
              </a:spcAft>
              <a:defRPr sz="1300">
                <a:solidFill>
                  <a:srgbClr val="1C2B33"/>
                </a:solidFill>
                <a:latin typeface="Aptos"/>
              </a:defRPr>
            </a:pPr>
            <a:r>
              <a:t>Dashboard layout to compare views together.</a:t>
            </a:r>
          </a:p>
          <a:p>
            <a:pPr>
              <a:spcAft>
                <a:spcPts val="1000"/>
              </a:spcAft>
              <a:defRPr sz="1300">
                <a:solidFill>
                  <a:srgbClr val="1C2B33"/>
                </a:solidFill>
                <a:latin typeface="Aptos"/>
              </a:defRPr>
            </a:pPr>
            <a:r>
              <a:t>Filters for exploring selected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Tableau workflow — connect, prepare and build worksheets</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From source fields to individual analytical views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13</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Connect to the healthcare data</a:t>
            </a:r>
          </a:p>
          <a:p>
            <a:pPr>
              <a:spcAft>
                <a:spcPts val="1100"/>
              </a:spcAft>
              <a:defRPr sz="1320">
                <a:solidFill>
                  <a:srgbClr val="1C2B33"/>
                </a:solidFill>
                <a:latin typeface="Aptos"/>
              </a:defRPr>
            </a:pPr>
            <a:r>
              <a:t>Opened the relevant data source and reviewed the available tables and fields. Checked field types and roles so dates, categories, IDs and numeric values were interpreted appropriately.</a:t>
            </a:r>
          </a:p>
          <a:p>
            <a:pPr>
              <a:spcAft>
                <a:spcPts val="300"/>
              </a:spcAft>
              <a:defRPr sz="1700" b="1">
                <a:solidFill>
                  <a:srgbClr val="115B5F"/>
                </a:solidFill>
                <a:latin typeface="Aptos Display"/>
              </a:defRPr>
            </a:pPr>
            <a:r>
              <a:t>2. Prepare fields for analysis</a:t>
            </a:r>
          </a:p>
          <a:p>
            <a:pPr>
              <a:spcAft>
                <a:spcPts val="1100"/>
              </a:spcAft>
              <a:defRPr sz="1320">
                <a:solidFill>
                  <a:srgbClr val="1C2B33"/>
                </a:solidFill>
                <a:latin typeface="Aptos"/>
              </a:defRPr>
            </a:pPr>
            <a:r>
              <a:t>Reviewed data types and category values; used suitable aggregations or calculated fields when a measure required a defined calculation. Distinguished dimensions used to group data from measures used to calculate totals or averages.</a:t>
            </a:r>
          </a:p>
          <a:p>
            <a:pPr>
              <a:spcAft>
                <a:spcPts val="300"/>
              </a:spcAft>
              <a:defRPr sz="1700" b="1">
                <a:solidFill>
                  <a:srgbClr val="115B5F"/>
                </a:solidFill>
                <a:latin typeface="Aptos Display"/>
              </a:defRPr>
            </a:pPr>
            <a:r>
              <a:t>3. Build individual worksheets</a:t>
            </a:r>
          </a:p>
          <a:p>
            <a:pPr>
              <a:spcAft>
                <a:spcPts val="1100"/>
              </a:spcAft>
              <a:defRPr sz="1320">
                <a:solidFill>
                  <a:srgbClr val="1C2B33"/>
                </a:solidFill>
                <a:latin typeface="Aptos"/>
              </a:defRPr>
            </a:pPr>
            <a:r>
              <a:t>Created separate views for selected KPI and operational questions, such as diagnosis distribution, lab-result categories, follow-up status and visit comparisons. Used chart types that suit each comparison.</a:t>
            </a:r>
          </a:p>
          <a:p>
            <a:pPr>
              <a:spcAft>
                <a:spcPts val="300"/>
              </a:spcAft>
              <a:defRPr sz="1700" b="1">
                <a:solidFill>
                  <a:srgbClr val="115B5F"/>
                </a:solidFill>
                <a:latin typeface="Aptos Display"/>
              </a:defRPr>
            </a:pPr>
            <a:r>
              <a:t>4. Check worksheet meaning</a:t>
            </a:r>
          </a:p>
          <a:p>
            <a:pPr>
              <a:spcAft>
                <a:spcPts val="1100"/>
              </a:spcAft>
              <a:defRPr sz="1320">
                <a:solidFill>
                  <a:srgbClr val="1C2B33"/>
                </a:solidFill>
                <a:latin typeface="Aptos"/>
              </a:defRPr>
            </a:pPr>
            <a:r>
              <a:t>Added clear titles and labels, reviewed axes and aggregation choices, and ensured the chart represented counts, averages or percentages as intended.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Tableau workflow — dashboard and interactivity</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How separate views became one report experience</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14</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Assemble the dashboard</a:t>
            </a:r>
          </a:p>
          <a:p>
            <a:pPr>
              <a:spcAft>
                <a:spcPts val="1100"/>
              </a:spcAft>
              <a:defRPr sz="1320">
                <a:solidFill>
                  <a:srgbClr val="1C2B33"/>
                </a:solidFill>
                <a:latin typeface="Aptos"/>
              </a:defRPr>
            </a:pPr>
            <a:r>
              <a:t>Placed the prepared worksheets into one dashboard, giving headline metrics priority and positioning supporting charts nearby for comparison.</a:t>
            </a:r>
          </a:p>
          <a:p>
            <a:pPr>
              <a:spcAft>
                <a:spcPts val="300"/>
              </a:spcAft>
              <a:defRPr sz="1700" b="1">
                <a:solidFill>
                  <a:srgbClr val="115B5F"/>
                </a:solidFill>
                <a:latin typeface="Aptos Display"/>
              </a:defRPr>
            </a:pPr>
            <a:r>
              <a:t>2. Add filters and control scope</a:t>
            </a:r>
          </a:p>
          <a:p>
            <a:pPr>
              <a:spcAft>
                <a:spcPts val="1100"/>
              </a:spcAft>
              <a:defRPr sz="1320">
                <a:solidFill>
                  <a:srgbClr val="1C2B33"/>
                </a:solidFill>
                <a:latin typeface="Aptos"/>
              </a:defRPr>
            </a:pPr>
            <a:r>
              <a:t>Added relevant filters and checked whether they should affect one worksheet or multiple views. Filter scope matters because an unexpected scope can make charts appear inconsistent.</a:t>
            </a:r>
          </a:p>
          <a:p>
            <a:pPr>
              <a:spcAft>
                <a:spcPts val="300"/>
              </a:spcAft>
              <a:defRPr sz="1700" b="1">
                <a:solidFill>
                  <a:srgbClr val="115B5F"/>
                </a:solidFill>
                <a:latin typeface="Aptos Display"/>
              </a:defRPr>
            </a:pPr>
            <a:r>
              <a:t>3. Format for readability</a:t>
            </a:r>
          </a:p>
          <a:p>
            <a:pPr>
              <a:spcAft>
                <a:spcPts val="1100"/>
              </a:spcAft>
              <a:defRPr sz="1320">
                <a:solidFill>
                  <a:srgbClr val="1C2B33"/>
                </a:solidFill>
                <a:latin typeface="Aptos"/>
              </a:defRPr>
            </a:pPr>
            <a:r>
              <a:t>Aligned the views, used concise titles and consistent colour choices, and avoided unnecessary decoration so users can focus on the healthcare measures.</a:t>
            </a:r>
          </a:p>
          <a:p>
            <a:pPr>
              <a:spcAft>
                <a:spcPts val="300"/>
              </a:spcAft>
              <a:defRPr sz="1700" b="1">
                <a:solidFill>
                  <a:srgbClr val="115B5F"/>
                </a:solidFill>
                <a:latin typeface="Aptos Display"/>
              </a:defRPr>
            </a:pPr>
            <a:r>
              <a:t>4. Compare with other tools</a:t>
            </a:r>
          </a:p>
          <a:p>
            <a:pPr>
              <a:spcAft>
                <a:spcPts val="1100"/>
              </a:spcAft>
              <a:defRPr sz="1320">
                <a:solidFill>
                  <a:srgbClr val="1C2B33"/>
                </a:solidFill>
                <a:latin typeface="Aptos"/>
              </a:defRPr>
            </a:pPr>
            <a:r>
              <a:t>Reviewed whether key totals and categories were consistent with the Excel and Power BI outputs. Differences should be investigated for filter settings, aggregation rules or field definitions before being interpreted.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MySQL and SQL quality assurance</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Structured checks to validate records and selected KPI outputs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15</a:t>
            </a:r>
          </a:p>
        </p:txBody>
      </p:sp>
      <p:sp>
        <p:nvSpPr>
          <p:cNvPr id="9" name="Rounded Rectangle 8"/>
          <p:cNvSpPr/>
          <p:nvPr/>
        </p:nvSpPr>
        <p:spPr>
          <a:xfrm>
            <a:off x="548640" y="1600200"/>
            <a:ext cx="5394960" cy="4526280"/>
          </a:xfrm>
          <a:prstGeom prst="roundRect">
            <a:avLst/>
          </a:prstGeom>
          <a:solidFill>
            <a:srgbClr val="F7FAFA"/>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reenshot (288).png"/>
          <p:cNvPicPr>
            <a:picLocks noChangeAspect="1"/>
          </p:cNvPicPr>
          <p:nvPr/>
        </p:nvPicPr>
        <p:blipFill>
          <a:blip r:embed="rId2"/>
          <a:stretch>
            <a:fillRect/>
          </a:stretch>
        </p:blipFill>
        <p:spPr>
          <a:xfrm>
            <a:off x="1560067" y="1737360"/>
            <a:ext cx="3381248" cy="1901952"/>
          </a:xfrm>
          <a:prstGeom prst="rect">
            <a:avLst/>
          </a:prstGeom>
        </p:spPr>
      </p:pic>
      <p:pic>
        <p:nvPicPr>
          <p:cNvPr id="11" name="Picture 10" descr="Screenshot (289).png"/>
          <p:cNvPicPr>
            <a:picLocks noChangeAspect="1"/>
          </p:cNvPicPr>
          <p:nvPr/>
        </p:nvPicPr>
        <p:blipFill>
          <a:blip r:embed="rId3"/>
          <a:stretch>
            <a:fillRect/>
          </a:stretch>
        </p:blipFill>
        <p:spPr>
          <a:xfrm>
            <a:off x="1421892" y="3794760"/>
            <a:ext cx="3657600" cy="2057400"/>
          </a:xfrm>
          <a:prstGeom prst="rect">
            <a:avLst/>
          </a:prstGeom>
        </p:spPr>
      </p:pic>
      <p:sp>
        <p:nvSpPr>
          <p:cNvPr id="12" name="Rounded Rectangle 11"/>
          <p:cNvSpPr/>
          <p:nvPr/>
        </p:nvSpPr>
        <p:spPr>
          <a:xfrm>
            <a:off x="6217920" y="1600200"/>
            <a:ext cx="5394960" cy="4526280"/>
          </a:xfrm>
          <a:prstGeom prst="roundRect">
            <a:avLst/>
          </a:prstGeom>
          <a:solidFill>
            <a:srgbClr val="E8F6F5"/>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856231"/>
            <a:ext cx="4754880" cy="320040"/>
          </a:xfrm>
          <a:prstGeom prst="rect">
            <a:avLst/>
          </a:prstGeom>
          <a:noFill/>
        </p:spPr>
        <p:txBody>
          <a:bodyPr wrap="square" lIns="0" rIns="0" tIns="0" bIns="0" anchor="t">
            <a:spAutoFit/>
          </a:bodyPr>
          <a:lstStyle/>
          <a:p>
            <a:pPr algn="l">
              <a:defRPr sz="1400" b="1">
                <a:solidFill>
                  <a:srgbClr val="115B5F"/>
                </a:solidFill>
                <a:latin typeface="Aptos"/>
              </a:defRPr>
            </a:pPr>
            <a:r>
              <a:t>CHECKS PERFORMED</a:t>
            </a:r>
          </a:p>
        </p:txBody>
      </p:sp>
      <p:sp>
        <p:nvSpPr>
          <p:cNvPr id="14" name="TextBox 13"/>
          <p:cNvSpPr txBox="1"/>
          <p:nvPr/>
        </p:nvSpPr>
        <p:spPr>
          <a:xfrm>
            <a:off x="6446520" y="2240280"/>
            <a:ext cx="4709160" cy="3383280"/>
          </a:xfrm>
          <a:prstGeom prst="rect">
            <a:avLst/>
          </a:prstGeom>
          <a:noFill/>
        </p:spPr>
        <p:txBody>
          <a:bodyPr wrap="square" lIns="109728" rIns="109728" tIns="91440" bIns="73152">
            <a:spAutoFit/>
          </a:bodyPr>
          <a:lstStyle/>
          <a:p>
            <a:pPr>
              <a:spcAft>
                <a:spcPts val="1000"/>
              </a:spcAft>
              <a:defRPr sz="1300">
                <a:solidFill>
                  <a:srgbClr val="1C2B33"/>
                </a:solidFill>
                <a:latin typeface="Aptos"/>
              </a:defRPr>
            </a:pPr>
            <a:r>
              <a:t>Table structures and record counts.</a:t>
            </a:r>
          </a:p>
          <a:p>
            <a:pPr>
              <a:spcAft>
                <a:spcPts val="1000"/>
              </a:spcAft>
              <a:defRPr sz="1300">
                <a:solidFill>
                  <a:srgbClr val="1C2B33"/>
                </a:solidFill>
                <a:latin typeface="Aptos"/>
              </a:defRPr>
            </a:pPr>
            <a:r>
              <a:t>Completeness checks for required fields.</a:t>
            </a:r>
          </a:p>
          <a:p>
            <a:pPr>
              <a:spcAft>
                <a:spcPts val="1000"/>
              </a:spcAft>
              <a:defRPr sz="1300">
                <a:solidFill>
                  <a:srgbClr val="1C2B33"/>
                </a:solidFill>
                <a:latin typeface="Aptos"/>
              </a:defRPr>
            </a:pPr>
            <a:r>
              <a:t>Consistency checks for related IDs.</a:t>
            </a:r>
          </a:p>
          <a:p>
            <a:pPr>
              <a:spcAft>
                <a:spcPts val="1000"/>
              </a:spcAft>
              <a:defRPr sz="1300">
                <a:solidFill>
                  <a:srgbClr val="1C2B33"/>
                </a:solidFill>
                <a:latin typeface="Aptos"/>
              </a:defRPr>
            </a:pPr>
            <a:r>
              <a:t>Duplicate checks on patient identifiers.</a:t>
            </a:r>
          </a:p>
          <a:p>
            <a:pPr>
              <a:spcAft>
                <a:spcPts val="1000"/>
              </a:spcAft>
              <a:defRPr sz="1300">
                <a:solidFill>
                  <a:srgbClr val="1C2B33"/>
                </a:solidFill>
                <a:latin typeface="Aptos"/>
              </a:defRPr>
            </a:pPr>
            <a:r>
              <a:t>Aggregations to compare dashboard KPIs.</a:t>
            </a:r>
          </a:p>
          <a:p>
            <a:pPr>
              <a:spcAft>
                <a:spcPts val="1000"/>
              </a:spcAft>
              <a:defRPr sz="1300">
                <a:solidFill>
                  <a:srgbClr val="1C2B33"/>
                </a:solidFill>
                <a:latin typeface="Aptos"/>
              </a:defRPr>
            </a:pPr>
            <a:r>
              <a:t>EXPLAIN ANALYZE to inspect a query plan.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MySQL workflow — database and data quality</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How SQL was used to inspect the data before interpreting the results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16</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Select the database and inspect tables</a:t>
            </a:r>
          </a:p>
          <a:p>
            <a:pPr>
              <a:spcAft>
                <a:spcPts val="1100"/>
              </a:spcAft>
              <a:defRPr sz="1320">
                <a:solidFill>
                  <a:srgbClr val="1C2B33"/>
                </a:solidFill>
                <a:latin typeface="Aptos"/>
              </a:defRPr>
            </a:pPr>
            <a:r>
              <a:t>Worked in the PatientHealthcare schema and inspected the relevant table structures. The displayed Patient table check showed 10,000 records and 23 columns.</a:t>
            </a:r>
          </a:p>
          <a:p>
            <a:pPr>
              <a:spcAft>
                <a:spcPts val="300"/>
              </a:spcAft>
              <a:defRPr sz="1700" b="1">
                <a:solidFill>
                  <a:srgbClr val="115B5F"/>
                </a:solidFill>
                <a:latin typeface="Aptos Display"/>
              </a:defRPr>
            </a:pPr>
            <a:r>
              <a:t>2. Validate record counts</a:t>
            </a:r>
          </a:p>
          <a:p>
            <a:pPr>
              <a:spcAft>
                <a:spcPts val="1100"/>
              </a:spcAft>
              <a:defRPr sz="1320">
                <a:solidFill>
                  <a:srgbClr val="1C2B33"/>
                </a:solidFill>
                <a:latin typeface="Aptos"/>
              </a:defRPr>
            </a:pPr>
            <a:r>
              <a:t>Used COUNT queries to verify records in the tables used by the project, including Patient, Doctor, Visit, Treatments and LabResult. Record counts provide a baseline for checking that imports and joins have not unexpectedly changed the number of rows.</a:t>
            </a:r>
          </a:p>
          <a:p>
            <a:pPr>
              <a:spcAft>
                <a:spcPts val="300"/>
              </a:spcAft>
              <a:defRPr sz="1700" b="1">
                <a:solidFill>
                  <a:srgbClr val="115B5F"/>
                </a:solidFill>
                <a:latin typeface="Aptos Display"/>
              </a:defRPr>
            </a:pPr>
            <a:r>
              <a:t>3. Check completeness and consistency</a:t>
            </a:r>
          </a:p>
          <a:p>
            <a:pPr>
              <a:spcAft>
                <a:spcPts val="1100"/>
              </a:spcAft>
              <a:defRPr sz="1320">
                <a:solidFill>
                  <a:srgbClr val="1C2B33"/>
                </a:solidFill>
                <a:latin typeface="Aptos"/>
              </a:defRPr>
            </a:pPr>
            <a:r>
              <a:t>Ran checks for missing required values and reviewed whether foreign-key-style identifiers matched related records in the displayed checks. Zero rows returned by a particular issue query means that query found no matching issues under its stated conditions; it does not prove every possible data issue is absent.</a:t>
            </a:r>
          </a:p>
          <a:p>
            <a:pPr>
              <a:spcAft>
                <a:spcPts val="300"/>
              </a:spcAft>
              <a:defRPr sz="1700" b="1">
                <a:solidFill>
                  <a:srgbClr val="115B5F"/>
                </a:solidFill>
                <a:latin typeface="Aptos Display"/>
              </a:defRPr>
            </a:pPr>
            <a:r>
              <a:t>4. Look for duplicate records</a:t>
            </a:r>
          </a:p>
          <a:p>
            <a:pPr>
              <a:spcAft>
                <a:spcPts val="1100"/>
              </a:spcAft>
              <a:defRPr sz="1320">
                <a:solidFill>
                  <a:srgbClr val="1C2B33"/>
                </a:solidFill>
                <a:latin typeface="Aptos"/>
              </a:defRPr>
            </a:pPr>
            <a:r>
              <a:t>Grouped patient identifiers to look for repeated IDs. The displayed duplicate check showed no duplicate PatientID groups. This is a useful structural check, but duplicate business records can require additional fields to identify.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MySQL workflow — KPI validation and query review</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SQL results were used to cross-check dashboard values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17</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Recalculate summary metrics</a:t>
            </a:r>
          </a:p>
          <a:p>
            <a:pPr>
              <a:spcAft>
                <a:spcPts val="1100"/>
              </a:spcAft>
              <a:defRPr sz="1320">
                <a:solidFill>
                  <a:srgbClr val="1C2B33"/>
                </a:solidFill>
                <a:latin typeface="Aptos"/>
              </a:defRPr>
            </a:pPr>
            <a:r>
              <a:t>Used aggregation queries to calculate values such as average patient age. The displayed SQL output showed an average age of approximately 48.94 years.</a:t>
            </a:r>
          </a:p>
          <a:p>
            <a:pPr>
              <a:spcAft>
                <a:spcPts val="300"/>
              </a:spcAft>
              <a:defRPr sz="1700" b="1">
                <a:solidFill>
                  <a:srgbClr val="115B5F"/>
                </a:solidFill>
                <a:latin typeface="Aptos Display"/>
              </a:defRPr>
            </a:pPr>
            <a:r>
              <a:t>2. Validate operational KPIs</a:t>
            </a:r>
          </a:p>
          <a:p>
            <a:pPr>
              <a:spcAft>
                <a:spcPts val="1100"/>
              </a:spcAft>
              <a:defRPr sz="1320">
                <a:solidFill>
                  <a:srgbClr val="1C2B33"/>
                </a:solidFill>
                <a:latin typeface="Aptos"/>
              </a:defRPr>
            </a:pPr>
            <a:r>
              <a:t>Reviewed counts and calculations used in the dashboards, including patient and visit totals, lab-result categories and follow-up status. Average workload was calculated as 10,000 visits divided by 1,000 doctors, giving 10 visits per doctor on average.</a:t>
            </a:r>
          </a:p>
          <a:p>
            <a:pPr>
              <a:spcAft>
                <a:spcPts val="300"/>
              </a:spcAft>
              <a:defRPr sz="1700" b="1">
                <a:solidFill>
                  <a:srgbClr val="115B5F"/>
                </a:solidFill>
                <a:latin typeface="Aptos Display"/>
              </a:defRPr>
            </a:pPr>
            <a:r>
              <a:t>3. Inspect a query plan</a:t>
            </a:r>
          </a:p>
          <a:p>
            <a:pPr>
              <a:spcAft>
                <a:spcPts val="1100"/>
              </a:spcAft>
              <a:defRPr sz="1320">
                <a:solidFill>
                  <a:srgbClr val="1C2B33"/>
                </a:solidFill>
                <a:latin typeface="Aptos"/>
              </a:defRPr>
            </a:pPr>
            <a:r>
              <a:t>Used EXPLAIN ANALYZE for a date-filtered Visit query. The plan inspection helps understand how a query is executed; the exercise alone should not be described as proof that performance improved.</a:t>
            </a:r>
          </a:p>
          <a:p>
            <a:pPr>
              <a:spcAft>
                <a:spcPts val="300"/>
              </a:spcAft>
              <a:defRPr sz="1700" b="1">
                <a:solidFill>
                  <a:srgbClr val="115B5F"/>
                </a:solidFill>
                <a:latin typeface="Aptos Display"/>
              </a:defRPr>
            </a:pPr>
            <a:r>
              <a:t>4. Compare tools consistently</a:t>
            </a:r>
          </a:p>
          <a:p>
            <a:pPr>
              <a:spcAft>
                <a:spcPts val="1100"/>
              </a:spcAft>
              <a:defRPr sz="1320">
                <a:solidFill>
                  <a:srgbClr val="1C2B33"/>
                </a:solidFill>
                <a:latin typeface="Aptos"/>
              </a:defRPr>
            </a:pPr>
            <a:r>
              <a:t>Where the same measure appeared in Excel, Power BI, Tableau and SQL, the definition and filters should match. Any mismatch should be traced to filter scope, date parsing, aggregation level or relationship logic before drawing a conclusion.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Key findings — what the data suggests</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These are descriptive observations from the supplied dataset, not clinical conclusions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18</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Follow-up is almost evenly split</a:t>
            </a:r>
          </a:p>
          <a:p>
            <a:pPr>
              <a:spcAft>
                <a:spcPts val="1100"/>
              </a:spcAft>
              <a:defRPr sz="1320">
                <a:solidFill>
                  <a:srgbClr val="1C2B33"/>
                </a:solidFill>
                <a:latin typeface="Aptos"/>
              </a:defRPr>
            </a:pPr>
            <a:r>
              <a:t>4,984 records are marked Yes, or 49.84%. This indicates that follow-up status is common in the records. It does not tell us whether every patient who needed follow-up received it. Action: review follow-up eligibility, due dates and completion separately, and prioritise overdue cases.</a:t>
            </a:r>
          </a:p>
          <a:p>
            <a:pPr>
              <a:spcAft>
                <a:spcPts val="300"/>
              </a:spcAft>
              <a:defRPr sz="1700" b="1">
                <a:solidFill>
                  <a:srgbClr val="115B5F"/>
                </a:solidFill>
                <a:latin typeface="Aptos Display"/>
              </a:defRPr>
            </a:pPr>
            <a:r>
              <a:t>About one-third of lab results are abnormal</a:t>
            </a:r>
          </a:p>
          <a:p>
            <a:pPr>
              <a:spcAft>
                <a:spcPts val="1100"/>
              </a:spcAft>
              <a:defRPr sz="1320">
                <a:solidFill>
                  <a:srgbClr val="1C2B33"/>
                </a:solidFill>
                <a:latin typeface="Aptos"/>
              </a:defRPr>
            </a:pPr>
            <a:r>
              <a:t>3,354 of 10,000 lab-result records are marked Abnormal (33.54%). This is a descriptive status count, not a diagnosis or evidence of poor care. Action: use a clinical review process to prioritise abnormal results, document escalation and track resolution.</a:t>
            </a:r>
          </a:p>
          <a:p>
            <a:pPr>
              <a:spcAft>
                <a:spcPts val="300"/>
              </a:spcAft>
              <a:defRPr sz="1700" b="1">
                <a:solidFill>
                  <a:srgbClr val="115B5F"/>
                </a:solidFill>
                <a:latin typeface="Aptos Display"/>
              </a:defRPr>
            </a:pPr>
            <a:r>
              <a:t>A substantial share of results are pending</a:t>
            </a:r>
          </a:p>
          <a:p>
            <a:pPr>
              <a:spcAft>
                <a:spcPts val="1100"/>
              </a:spcAft>
              <a:defRPr sz="1320">
                <a:solidFill>
                  <a:srgbClr val="1C2B33"/>
                </a:solidFill>
                <a:latin typeface="Aptos"/>
              </a:defRPr>
            </a:pPr>
            <a:r>
              <a:t>3,344 records are Pending (33.44%). Pending results may reflect workflow timing or other factors; the dataset alone does not establish the cause. Action: analyse pending age and test type, set appropriate turnaround targets and monitor overdue results.</a:t>
            </a:r>
          </a:p>
          <a:p>
            <a:pPr>
              <a:spcAft>
                <a:spcPts val="300"/>
              </a:spcAft>
              <a:defRPr sz="1700" b="1">
                <a:solidFill>
                  <a:srgbClr val="115B5F"/>
                </a:solidFill>
                <a:latin typeface="Aptos Display"/>
              </a:defRPr>
            </a:pPr>
            <a:r>
              <a:t>Visits and doctors imply an average of ten visits per doctor</a:t>
            </a:r>
          </a:p>
          <a:p>
            <a:pPr>
              <a:spcAft>
                <a:spcPts val="1100"/>
              </a:spcAft>
              <a:defRPr sz="1320">
                <a:solidFill>
                  <a:srgbClr val="1C2B33"/>
                </a:solidFill>
                <a:latin typeface="Aptos"/>
              </a:defRPr>
            </a:pPr>
            <a:r>
              <a:t>This is a simple overall average, not a measure of workload balance. Action: break workload down by doctor, date and visit type before making staffing decisions.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Recommended actions and further analysis</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Move from summary dashboards to operational follow-up</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19</a:t>
            </a:r>
          </a:p>
        </p:txBody>
      </p:sp>
      <p:sp>
        <p:nvSpPr>
          <p:cNvPr id="9" name="Rounded Rectangle 8"/>
          <p:cNvSpPr/>
          <p:nvPr/>
        </p:nvSpPr>
        <p:spPr>
          <a:xfrm>
            <a:off x="530352" y="1673352"/>
            <a:ext cx="11109960" cy="4590288"/>
          </a:xfrm>
          <a:prstGeom prst="roundRect">
            <a:avLst/>
          </a:prstGeom>
          <a:solidFill>
            <a:srgbClr val="FFFFFF"/>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56231"/>
            <a:ext cx="10561320" cy="4206240"/>
          </a:xfrm>
          <a:prstGeom prst="rect">
            <a:avLst/>
          </a:prstGeom>
          <a:noFill/>
        </p:spPr>
        <p:txBody>
          <a:bodyPr wrap="square" lIns="73152" rIns="73152" tIns="54864" bIns="36576">
            <a:spAutoFit/>
          </a:bodyPr>
          <a:lstStyle/>
          <a:p>
            <a:pPr>
              <a:spcAft>
                <a:spcPts val="300"/>
              </a:spcAft>
              <a:defRPr sz="1700" b="1">
                <a:solidFill>
                  <a:srgbClr val="115B5F"/>
                </a:solidFill>
                <a:latin typeface="Aptos Display"/>
              </a:defRPr>
            </a:pPr>
            <a:r>
              <a:t>1. Improve follow-up visibility</a:t>
            </a:r>
          </a:p>
          <a:p>
            <a:pPr>
              <a:spcAft>
                <a:spcPts val="1100"/>
              </a:spcAft>
              <a:defRPr sz="1320">
                <a:solidFill>
                  <a:srgbClr val="1C2B33"/>
                </a:solidFill>
                <a:latin typeface="Aptos"/>
              </a:defRPr>
            </a:pPr>
            <a:r>
              <a:t>Separate patients requiring follow-up from those with a follow-up recorded. Add due date, completion date and overdue status if available; monitor the percentage completed within the expected timeframe.</a:t>
            </a:r>
          </a:p>
          <a:p>
            <a:pPr>
              <a:spcAft>
                <a:spcPts val="300"/>
              </a:spcAft>
              <a:defRPr sz="1700" b="1">
                <a:solidFill>
                  <a:srgbClr val="115B5F"/>
                </a:solidFill>
                <a:latin typeface="Aptos Display"/>
              </a:defRPr>
            </a:pPr>
            <a:r>
              <a:t>2. Monitor lab-result turnaround</a:t>
            </a:r>
          </a:p>
          <a:p>
            <a:pPr>
              <a:spcAft>
                <a:spcPts val="1100"/>
              </a:spcAft>
              <a:defRPr sz="1320">
                <a:solidFill>
                  <a:srgbClr val="1C2B33"/>
                </a:solidFill>
                <a:latin typeface="Aptos"/>
              </a:defRPr>
            </a:pPr>
            <a:r>
              <a:t>Track pending results by age, test type and responsible team. Establish review and escalation rules with clinical stakeholders; do not infer clinical urgency from status alone.</a:t>
            </a:r>
          </a:p>
          <a:p>
            <a:pPr>
              <a:spcAft>
                <a:spcPts val="300"/>
              </a:spcAft>
              <a:defRPr sz="1700" b="1">
                <a:solidFill>
                  <a:srgbClr val="115B5F"/>
                </a:solidFill>
                <a:latin typeface="Aptos Display"/>
              </a:defRPr>
            </a:pPr>
            <a:r>
              <a:t>3. Investigate condition patterns carefully</a:t>
            </a:r>
          </a:p>
          <a:p>
            <a:pPr>
              <a:spcAft>
                <a:spcPts val="1100"/>
              </a:spcAft>
              <a:defRPr sz="1320">
                <a:solidFill>
                  <a:srgbClr val="1C2B33"/>
                </a:solidFill>
                <a:latin typeface="Aptos"/>
              </a:defRPr>
            </a:pPr>
            <a:r>
              <a:t>The top categories are Migraine (2,039), Hypertension (2,011), Asthma (2,009), Healthy (1,981) and Diabetes (1,960). Counts are close together. Confirm the meaning of “Healthy” and the coding rules before using these categories for clinical comparisons.</a:t>
            </a:r>
          </a:p>
          <a:p>
            <a:pPr>
              <a:spcAft>
                <a:spcPts val="300"/>
              </a:spcAft>
              <a:defRPr sz="1700" b="1">
                <a:solidFill>
                  <a:srgbClr val="115B5F"/>
                </a:solidFill>
                <a:latin typeface="Aptos Display"/>
              </a:defRPr>
            </a:pPr>
            <a:r>
              <a:t>4. Examine cost and workload distributions</a:t>
            </a:r>
          </a:p>
          <a:p>
            <a:pPr>
              <a:spcAft>
                <a:spcPts val="1100"/>
              </a:spcAft>
              <a:defRPr sz="1320">
                <a:solidFill>
                  <a:srgbClr val="1C2B33"/>
                </a:solidFill>
                <a:latin typeface="Aptos"/>
              </a:defRPr>
            </a:pPr>
            <a:r>
              <a:t>Average treatment cost is ₹524.75 and average visits per doctor is 10.0. Averages can hide variation. Compare distributions by visit type, time period and doctor while accounting for data completeness and context.</a:t>
            </a:r>
          </a:p>
          <a:p>
            <a:pPr>
              <a:spcAft>
                <a:spcPts val="300"/>
              </a:spcAft>
              <a:defRPr sz="1700" b="1">
                <a:solidFill>
                  <a:srgbClr val="115B5F"/>
                </a:solidFill>
                <a:latin typeface="Aptos Display"/>
              </a:defRPr>
            </a:pPr>
            <a:r>
              <a:t>5. Keep KPI definitions documented</a:t>
            </a:r>
          </a:p>
          <a:p>
            <a:pPr>
              <a:spcAft>
                <a:spcPts val="1100"/>
              </a:spcAft>
              <a:defRPr sz="1320">
                <a:solidFill>
                  <a:srgbClr val="1C2B33"/>
                </a:solidFill>
                <a:latin typeface="Aptos"/>
              </a:defRPr>
            </a:pPr>
            <a:r>
              <a:t>Maintain a KPI dictionary with formula, source table, filter scope and refresh date. Reconcile Excel, Power BI, Tableau and SQL outputs after changes to prevent conflicting numbers.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Data interpretation and limitations</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Important safeguards for presenting healthcare analytics</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20</a:t>
            </a:r>
          </a:p>
        </p:txBody>
      </p:sp>
      <p:sp>
        <p:nvSpPr>
          <p:cNvPr id="9" name="Rounded Rectangle 8"/>
          <p:cNvSpPr/>
          <p:nvPr/>
        </p:nvSpPr>
        <p:spPr>
          <a:xfrm>
            <a:off x="594360" y="1645920"/>
            <a:ext cx="10972800" cy="4526280"/>
          </a:xfrm>
          <a:prstGeom prst="roundRect">
            <a:avLst/>
          </a:prstGeom>
          <a:solidFill>
            <a:srgbClr val="F7FAFA"/>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74519"/>
            <a:ext cx="10424160" cy="3931920"/>
          </a:xfrm>
          <a:prstGeom prst="rect">
            <a:avLst/>
          </a:prstGeom>
          <a:noFill/>
        </p:spPr>
        <p:txBody>
          <a:bodyPr wrap="square" lIns="109728" rIns="109728" tIns="91440" bIns="73152">
            <a:spAutoFit/>
          </a:bodyPr>
          <a:lstStyle/>
          <a:p>
            <a:pPr>
              <a:spcAft>
                <a:spcPts val="1000"/>
              </a:spcAft>
              <a:defRPr sz="1500">
                <a:solidFill>
                  <a:srgbClr val="1C2B33"/>
                </a:solidFill>
                <a:latin typeface="Aptos"/>
              </a:defRPr>
            </a:pPr>
            <a:r>
              <a:t>Counts and percentages describe the supplied records; they do not independently establish clinical quality, patient outcomes or the cause of a pattern.</a:t>
            </a:r>
          </a:p>
          <a:p>
            <a:pPr>
              <a:spcAft>
                <a:spcPts val="1000"/>
              </a:spcAft>
              <a:defRPr sz="1500">
                <a:solidFill>
                  <a:srgbClr val="1C2B33"/>
                </a:solidFill>
                <a:latin typeface="Aptos"/>
              </a:defRPr>
            </a:pPr>
            <a:r>
              <a:t>“Healthy” appears in the diagnosis category values and is reported as stored. Confirm its definition before treating it as a diagnosis category comparable to the others.</a:t>
            </a:r>
          </a:p>
          <a:p>
            <a:pPr>
              <a:spcAft>
                <a:spcPts val="1000"/>
              </a:spcAft>
              <a:defRPr sz="1500">
                <a:solidFill>
                  <a:srgbClr val="1C2B33"/>
                </a:solidFill>
                <a:latin typeface="Aptos"/>
              </a:defRPr>
            </a:pPr>
            <a:r>
              <a:t>An abnormal lab result is not itself a confirmed diagnosis. Clinical context, reference ranges and professional review are needed.</a:t>
            </a:r>
          </a:p>
          <a:p>
            <a:pPr>
              <a:spcAft>
                <a:spcPts val="1000"/>
              </a:spcAft>
              <a:defRPr sz="1500">
                <a:solidFill>
                  <a:srgbClr val="1C2B33"/>
                </a:solidFill>
                <a:latin typeface="Aptos"/>
              </a:defRPr>
            </a:pPr>
            <a:r>
              <a:t>A zero-row issue check means no rows matched that specific query condition; it is not a guarantee of perfect data quality.</a:t>
            </a:r>
          </a:p>
          <a:p>
            <a:pPr>
              <a:spcAft>
                <a:spcPts val="1000"/>
              </a:spcAft>
              <a:defRPr sz="1500">
                <a:solidFill>
                  <a:srgbClr val="1C2B33"/>
                </a:solidFill>
                <a:latin typeface="Aptos"/>
              </a:defRPr>
            </a:pPr>
            <a:r>
              <a:t>Average treatment cost and average doctor workload can hide variation. Further breakdowns are needed before making operational decisions.</a:t>
            </a:r>
          </a:p>
          <a:p>
            <a:pPr>
              <a:spcAft>
                <a:spcPts val="1000"/>
              </a:spcAft>
              <a:defRPr sz="1500">
                <a:solidFill>
                  <a:srgbClr val="1C2B33"/>
                </a:solidFill>
                <a:latin typeface="Aptos"/>
              </a:defRPr>
            </a:pPr>
            <a:r>
              <a:t>For final reporting, confirm date filters, KPI definitions and refresh timing across all three dashboard tools and SQL.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15B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9848"/>
            <a:ext cx="12191695" cy="64008"/>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082528" y="0"/>
            <a:ext cx="438912" cy="896112"/>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9456"/>
            <a:ext cx="10241280" cy="658368"/>
          </a:xfrm>
          <a:prstGeom prst="rect">
            <a:avLst/>
          </a:prstGeom>
          <a:noFill/>
        </p:spPr>
        <p:txBody>
          <a:bodyPr wrap="square" lIns="18288" rIns="18288" tIns="18288" bIns="18288" anchor="t">
            <a:spAutoFit/>
          </a:bodyPr>
          <a:lstStyle/>
          <a:p>
            <a:pPr algn="l">
              <a:defRPr sz="2700" b="1">
                <a:solidFill>
                  <a:srgbClr val="FFFFFF"/>
                </a:solidFill>
                <a:latin typeface="Aptos Display"/>
              </a:defRPr>
            </a:pPr>
            <a:r>
              <a:t>Conclusion and next steps</a:t>
            </a:r>
          </a:p>
        </p:txBody>
      </p:sp>
      <p:sp>
        <p:nvSpPr>
          <p:cNvPr id="6" name="TextBox 5"/>
          <p:cNvSpPr txBox="1"/>
          <p:nvPr/>
        </p:nvSpPr>
        <p:spPr>
          <a:xfrm>
            <a:off x="548640" y="1225296"/>
            <a:ext cx="10972800" cy="320040"/>
          </a:xfrm>
          <a:prstGeom prst="rect">
            <a:avLst/>
          </a:prstGeom>
          <a:noFill/>
        </p:spPr>
        <p:txBody>
          <a:bodyPr wrap="square" lIns="18288" rIns="18288" tIns="18288" bIns="18288" anchor="t">
            <a:spAutoFit/>
          </a:bodyPr>
          <a:lstStyle/>
          <a:p>
            <a:pPr algn="l">
              <a:defRPr sz="1100" b="1">
                <a:solidFill>
                  <a:srgbClr val="115B5F"/>
                </a:solidFill>
                <a:latin typeface="Aptos"/>
              </a:defRPr>
            </a:pPr>
            <a:r>
              <a:t>From data preparation to cross-tool validation</a:t>
            </a:r>
          </a:p>
        </p:txBody>
      </p:sp>
      <p:sp>
        <p:nvSpPr>
          <p:cNvPr id="7" name="TextBox 6"/>
          <p:cNvSpPr txBox="1"/>
          <p:nvPr/>
        </p:nvSpPr>
        <p:spPr>
          <a:xfrm>
            <a:off x="411480" y="6547104"/>
            <a:ext cx="7315200" cy="164592"/>
          </a:xfrm>
          <a:prstGeom prst="rect">
            <a:avLst/>
          </a:prstGeom>
          <a:noFill/>
        </p:spPr>
        <p:txBody>
          <a:bodyPr wrap="square" lIns="0" rIns="0" tIns="0" bIns="0" anchor="t">
            <a:spAutoFit/>
          </a:bodyPr>
          <a:lstStyle/>
          <a:p>
            <a:pPr algn="l">
              <a:defRPr sz="800" b="1">
                <a:solidFill>
                  <a:srgbClr val="566970"/>
                </a:solidFill>
                <a:latin typeface="Aptos"/>
              </a:defRPr>
            </a:pPr>
            <a:r>
              <a:t>AXON  |  PATIENT HEALTHCARE ANALYTICS  |  GROUP 4</a:t>
            </a:r>
          </a:p>
        </p:txBody>
      </p:sp>
      <p:sp>
        <p:nvSpPr>
          <p:cNvPr id="8" name="TextBox 7"/>
          <p:cNvSpPr txBox="1"/>
          <p:nvPr/>
        </p:nvSpPr>
        <p:spPr>
          <a:xfrm>
            <a:off x="11155680" y="6519672"/>
            <a:ext cx="502920" cy="201168"/>
          </a:xfrm>
          <a:prstGeom prst="rect">
            <a:avLst/>
          </a:prstGeom>
          <a:noFill/>
        </p:spPr>
        <p:txBody>
          <a:bodyPr wrap="square" lIns="0" rIns="0" tIns="0" bIns="0" anchor="t">
            <a:spAutoFit/>
          </a:bodyPr>
          <a:lstStyle/>
          <a:p>
            <a:pPr algn="r">
              <a:defRPr sz="900" b="0">
                <a:solidFill>
                  <a:srgbClr val="566970"/>
                </a:solidFill>
                <a:latin typeface="Aptos"/>
              </a:defRPr>
            </a:pPr>
            <a:r>
              <a:t>21</a:t>
            </a:r>
          </a:p>
        </p:txBody>
      </p:sp>
      <p:sp>
        <p:nvSpPr>
          <p:cNvPr id="9" name="Rounded Rectangle 8"/>
          <p:cNvSpPr/>
          <p:nvPr/>
        </p:nvSpPr>
        <p:spPr>
          <a:xfrm>
            <a:off x="640080" y="1691640"/>
            <a:ext cx="6492240" cy="4434840"/>
          </a:xfrm>
          <a:prstGeom prst="roundRect">
            <a:avLst/>
          </a:prstGeom>
          <a:solidFill>
            <a:srgbClr val="F7FAFA"/>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60"/>
            <a:ext cx="5852160" cy="365760"/>
          </a:xfrm>
          <a:prstGeom prst="rect">
            <a:avLst/>
          </a:prstGeom>
          <a:noFill/>
        </p:spPr>
        <p:txBody>
          <a:bodyPr wrap="square" lIns="0" rIns="0" tIns="0" bIns="0" anchor="t">
            <a:spAutoFit/>
          </a:bodyPr>
          <a:lstStyle/>
          <a:p>
            <a:pPr algn="l">
              <a:defRPr sz="1600" b="1">
                <a:solidFill>
                  <a:srgbClr val="115B5F"/>
                </a:solidFill>
                <a:latin typeface="Aptos"/>
              </a:defRPr>
            </a:pPr>
            <a:r>
              <a:t>PROJECT SUMMARY</a:t>
            </a:r>
          </a:p>
        </p:txBody>
      </p:sp>
      <p:sp>
        <p:nvSpPr>
          <p:cNvPr id="11" name="TextBox 10"/>
          <p:cNvSpPr txBox="1"/>
          <p:nvPr/>
        </p:nvSpPr>
        <p:spPr>
          <a:xfrm>
            <a:off x="914400" y="2395728"/>
            <a:ext cx="5897880" cy="3200400"/>
          </a:xfrm>
          <a:prstGeom prst="rect">
            <a:avLst/>
          </a:prstGeom>
          <a:noFill/>
        </p:spPr>
        <p:txBody>
          <a:bodyPr wrap="square" lIns="109728" rIns="109728" tIns="91440" bIns="73152">
            <a:spAutoFit/>
          </a:bodyPr>
          <a:lstStyle/>
          <a:p>
            <a:pPr>
              <a:spcAft>
                <a:spcPts val="1000"/>
              </a:spcAft>
              <a:defRPr sz="1400">
                <a:solidFill>
                  <a:srgbClr val="1C2B33"/>
                </a:solidFill>
                <a:latin typeface="Aptos"/>
              </a:defRPr>
            </a:pPr>
            <a:r>
              <a:t>Excel provided the initial KPI overview with PivotTables, charts and slicers.</a:t>
            </a:r>
          </a:p>
          <a:p>
            <a:pPr>
              <a:spcAft>
                <a:spcPts val="1000"/>
              </a:spcAft>
              <a:defRPr sz="1400">
                <a:solidFill>
                  <a:srgbClr val="1C2B33"/>
                </a:solidFill>
                <a:latin typeface="Aptos"/>
              </a:defRPr>
            </a:pPr>
            <a:r>
              <a:t>Power BI used Power Query and data modelling to present an interactive report.</a:t>
            </a:r>
          </a:p>
          <a:p>
            <a:pPr>
              <a:spcAft>
                <a:spcPts val="1000"/>
              </a:spcAft>
              <a:defRPr sz="1400">
                <a:solidFill>
                  <a:srgbClr val="1C2B33"/>
                </a:solidFill>
                <a:latin typeface="Aptos"/>
              </a:defRPr>
            </a:pPr>
            <a:r>
              <a:t>Tableau provided another dashboard view through worksheets and filters.</a:t>
            </a:r>
          </a:p>
          <a:p>
            <a:pPr>
              <a:spcAft>
                <a:spcPts val="1000"/>
              </a:spcAft>
              <a:defRPr sz="1400">
                <a:solidFill>
                  <a:srgbClr val="1C2B33"/>
                </a:solidFill>
                <a:latin typeface="Aptos"/>
              </a:defRPr>
            </a:pPr>
            <a:r>
              <a:t>MySQL supported data-quality checks and validation of selected measures.</a:t>
            </a:r>
          </a:p>
          <a:p>
            <a:pPr>
              <a:spcAft>
                <a:spcPts val="1000"/>
              </a:spcAft>
              <a:defRPr sz="1400">
                <a:solidFill>
                  <a:srgbClr val="1C2B33"/>
                </a:solidFill>
                <a:latin typeface="Aptos"/>
              </a:defRPr>
            </a:pPr>
            <a:r>
              <a:t>Together, the tools made the data easier to explore while highlighting areas for further review.</a:t>
            </a:r>
          </a:p>
        </p:txBody>
      </p:sp>
      <p:sp>
        <p:nvSpPr>
          <p:cNvPr id="12" name="Rounded Rectangle 11"/>
          <p:cNvSpPr/>
          <p:nvPr/>
        </p:nvSpPr>
        <p:spPr>
          <a:xfrm>
            <a:off x="7452360" y="1691640"/>
            <a:ext cx="4069080" cy="4434840"/>
          </a:xfrm>
          <a:prstGeom prst="roundRect">
            <a:avLst/>
          </a:prstGeom>
          <a:solidFill>
            <a:srgbClr val="E8F6F5"/>
          </a:solidFill>
          <a:ln w="12700">
            <a:solidFill>
              <a:srgbClr val="CF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1965960"/>
            <a:ext cx="3474720" cy="365760"/>
          </a:xfrm>
          <a:prstGeom prst="rect">
            <a:avLst/>
          </a:prstGeom>
          <a:noFill/>
        </p:spPr>
        <p:txBody>
          <a:bodyPr wrap="square" lIns="0" rIns="0" tIns="0" bIns="0" anchor="t">
            <a:spAutoFit/>
          </a:bodyPr>
          <a:lstStyle/>
          <a:p>
            <a:pPr algn="l">
              <a:defRPr sz="1600" b="1">
                <a:solidFill>
                  <a:srgbClr val="115B5F"/>
                </a:solidFill>
                <a:latin typeface="Aptos"/>
              </a:defRPr>
            </a:pPr>
            <a:r>
              <a:t>NEXT STEPS</a:t>
            </a:r>
          </a:p>
        </p:txBody>
      </p:sp>
      <p:sp>
        <p:nvSpPr>
          <p:cNvPr id="14" name="TextBox 13"/>
          <p:cNvSpPr txBox="1"/>
          <p:nvPr/>
        </p:nvSpPr>
        <p:spPr>
          <a:xfrm>
            <a:off x="7726679" y="2395728"/>
            <a:ext cx="3429000" cy="3200400"/>
          </a:xfrm>
          <a:prstGeom prst="rect">
            <a:avLst/>
          </a:prstGeom>
          <a:noFill/>
        </p:spPr>
        <p:txBody>
          <a:bodyPr wrap="square" lIns="109728" rIns="109728" tIns="91440" bIns="73152">
            <a:spAutoFit/>
          </a:bodyPr>
          <a:lstStyle/>
          <a:p>
            <a:pPr>
              <a:spcAft>
                <a:spcPts val="1000"/>
              </a:spcAft>
              <a:defRPr sz="1300">
                <a:solidFill>
                  <a:srgbClr val="1C2B33"/>
                </a:solidFill>
                <a:latin typeface="Aptos"/>
              </a:defRPr>
            </a:pPr>
            <a:r>
              <a:t>Document KPI formulas and filters.</a:t>
            </a:r>
          </a:p>
          <a:p>
            <a:pPr>
              <a:spcAft>
                <a:spcPts val="1000"/>
              </a:spcAft>
              <a:defRPr sz="1300">
                <a:solidFill>
                  <a:srgbClr val="1C2B33"/>
                </a:solidFill>
                <a:latin typeface="Aptos"/>
              </a:defRPr>
            </a:pPr>
            <a:r>
              <a:t>Review overdue follow-ups and pending results.</a:t>
            </a:r>
          </a:p>
          <a:p>
            <a:pPr>
              <a:spcAft>
                <a:spcPts val="1000"/>
              </a:spcAft>
              <a:defRPr sz="1300">
                <a:solidFill>
                  <a:srgbClr val="1C2B33"/>
                </a:solidFill>
                <a:latin typeface="Aptos"/>
              </a:defRPr>
            </a:pPr>
            <a:r>
              <a:t>Investigate workload and cost variation.</a:t>
            </a:r>
          </a:p>
          <a:p>
            <a:pPr>
              <a:spcAft>
                <a:spcPts val="1000"/>
              </a:spcAft>
              <a:defRPr sz="1300">
                <a:solidFill>
                  <a:srgbClr val="1C2B33"/>
                </a:solidFill>
                <a:latin typeface="Aptos"/>
              </a:defRPr>
            </a:pPr>
            <a:r>
              <a:t>Refresh and reconcile dashboards regularly.</a:t>
            </a:r>
          </a:p>
          <a:p>
            <a:pPr>
              <a:spcAft>
                <a:spcPts val="1000"/>
              </a:spcAft>
              <a:defRPr sz="1300">
                <a:solidFill>
                  <a:srgbClr val="1C2B33"/>
                </a:solidFill>
                <a:latin typeface="Aptos"/>
              </a:defRPr>
            </a:pPr>
            <a:r>
              <a:t>Validate interpretations with healthcare stakeholders.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5680" y="0"/>
            <a:ext cx="475488" cy="960120"/>
          </a:xfrm>
          <a:prstGeom prst="rect">
            <a:avLst/>
          </a:prstGeom>
          <a:solidFill>
            <a:srgbClr val="B9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95560" y="1371600"/>
            <a:ext cx="146304" cy="640080"/>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948672" y="1618488"/>
            <a:ext cx="640080" cy="146304"/>
          </a:xfrm>
          <a:prstGeom prst="rect">
            <a:avLst/>
          </a:prstGeom>
          <a:solidFill>
            <a:srgbClr val="48A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14600"/>
            <a:ext cx="10332720" cy="731520"/>
          </a:xfrm>
          <a:prstGeom prst="rect">
            <a:avLst/>
          </a:prstGeom>
          <a:noFill/>
        </p:spPr>
        <p:txBody>
          <a:bodyPr wrap="square" lIns="0" rIns="0" tIns="0" bIns="0" anchor="t">
            <a:spAutoFit/>
          </a:bodyPr>
          <a:lstStyle/>
          <a:p>
            <a:pPr algn="ctr">
              <a:defRPr sz="3400" b="1">
                <a:solidFill>
                  <a:srgbClr val="FFFFFF"/>
                </a:solidFill>
                <a:latin typeface="Aptos Display"/>
              </a:defRPr>
            </a:pPr>
            <a:r>
              <a:t>THANK YOU</a:t>
            </a:r>
          </a:p>
        </p:txBody>
      </p:sp>
      <p:sp>
        <p:nvSpPr>
          <p:cNvPr id="8" name="TextBox 7"/>
          <p:cNvSpPr txBox="1"/>
          <p:nvPr/>
        </p:nvSpPr>
        <p:spPr>
          <a:xfrm>
            <a:off x="2011680" y="3337560"/>
            <a:ext cx="8138160" cy="411480"/>
          </a:xfrm>
          <a:prstGeom prst="rect">
            <a:avLst/>
          </a:prstGeom>
          <a:noFill/>
        </p:spPr>
        <p:txBody>
          <a:bodyPr wrap="square" lIns="0" rIns="0" tIns="0" bIns="0" anchor="t">
            <a:spAutoFit/>
          </a:bodyPr>
          <a:lstStyle/>
          <a:p>
            <a:pPr algn="ctr">
              <a:defRPr sz="1500" b="1">
                <a:solidFill>
                  <a:srgbClr val="48A9A4"/>
                </a:solidFill>
                <a:latin typeface="Aptos"/>
              </a:defRPr>
            </a:pPr>
            <a:r>
              <a:t>PATIENT HEALTHCARE ANALYTICS  •  GROUP 4</a:t>
            </a:r>
          </a:p>
        </p:txBody>
      </p:sp>
      <p:sp>
        <p:nvSpPr>
          <p:cNvPr id="9" name="TextBox 8"/>
          <p:cNvSpPr txBox="1"/>
          <p:nvPr/>
        </p:nvSpPr>
        <p:spPr>
          <a:xfrm>
            <a:off x="2834640" y="3886200"/>
            <a:ext cx="6492240" cy="822960"/>
          </a:xfrm>
          <a:prstGeom prst="rect">
            <a:avLst/>
          </a:prstGeom>
          <a:noFill/>
        </p:spPr>
        <p:txBody>
          <a:bodyPr wrap="square" lIns="0" rIns="0" tIns="0" bIns="0" anchor="t">
            <a:spAutoFit/>
          </a:bodyPr>
          <a:lstStyle/>
          <a:p>
            <a:pPr algn="ctr">
              <a:defRPr sz="1300" b="0">
                <a:solidFill>
                  <a:srgbClr val="FFFFFF"/>
                </a:solidFill>
                <a:latin typeface="Aptos"/>
              </a:defRPr>
            </a:pPr>
            <a:r>
              <a:t>P.L. Deepak  •  Ananya TS  •  DSV Sahithi  •  Alwyn Samuel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